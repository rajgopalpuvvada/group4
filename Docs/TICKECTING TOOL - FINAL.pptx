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7" r:id="rId5"/>
    <p:sldId id="268" r:id="rId6"/>
    <p:sldId id="269" r:id="rId7"/>
    <p:sldId id="259" r:id="rId8"/>
    <p:sldId id="260" r:id="rId9"/>
    <p:sldId id="270" r:id="rId10"/>
    <p:sldId id="271" r:id="rId11"/>
    <p:sldId id="272" r:id="rId12"/>
    <p:sldId id="273" r:id="rId13"/>
    <p:sldId id="261" r:id="rId14"/>
    <p:sldId id="274" r:id="rId15"/>
    <p:sldId id="275" r:id="rId16"/>
    <p:sldId id="276" r:id="rId17"/>
    <p:sldId id="277" r:id="rId18"/>
    <p:sldId id="278" r:id="rId19"/>
    <p:sldId id="279" r:id="rId20"/>
    <p:sldId id="280" r:id="rId21"/>
    <p:sldId id="262" r:id="rId22"/>
    <p:sldId id="263" r:id="rId23"/>
    <p:sldId id="264" r:id="rId24"/>
    <p:sldId id="288" r:id="rId25"/>
    <p:sldId id="281" r:id="rId26"/>
    <p:sldId id="282" r:id="rId27"/>
    <p:sldId id="283" r:id="rId28"/>
    <p:sldId id="284" r:id="rId29"/>
    <p:sldId id="265" r:id="rId30"/>
    <p:sldId id="266" r:id="rId31"/>
    <p:sldId id="286" r:id="rId32"/>
    <p:sldId id="285" r:id="rId33"/>
    <p:sldId id="287"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89" d="100"/>
          <a:sy n="89" d="100"/>
        </p:scale>
        <p:origin x="4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5:56.046"/>
    </inkml:context>
    <inkml:brush xml:id="br0">
      <inkml:brushProperty name="width" value="0.05" units="cm"/>
      <inkml:brushProperty name="height" value="0.05" units="cm"/>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5:56.910"/>
    </inkml:context>
    <inkml:brush xml:id="br0">
      <inkml:brushProperty name="width" value="0.05" units="cm"/>
      <inkml:brushProperty name="height" value="0.05" units="cm"/>
    </inkml:brush>
  </inkml:definitions>
  <inkml:trace contextRef="#ctx0" brushRef="#br0">0 1 24575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6:07.217"/>
    </inkml:context>
    <inkml:brush xml:id="br0">
      <inkml:brushProperty name="width" value="0.05" units="cm"/>
      <inkml:brushProperty name="height" value="0.05" units="cm"/>
    </inkml:brush>
  </inkml:definitions>
  <inkml:trace contextRef="#ctx0" brushRef="#br0">0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6:09.975"/>
    </inkml:context>
    <inkml:brush xml:id="br0">
      <inkml:brushProperty name="width" value="0.05" units="cm"/>
      <inkml:brushProperty name="height" value="0.05" units="cm"/>
    </inkml:brush>
  </inkml:definitions>
  <inkml:trace contextRef="#ctx0" brushRef="#br0">0 0 24575</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ED94D-481E-49B2-AF16-C2141A4BA8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0472983-DE99-4227-B1EB-ABB64C4E9F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26062AA-5FAC-464B-8898-696CD17304C6}"/>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753DB7F6-B62B-44D0-B6F4-1EE2DEB381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F21618-C123-4998-85FF-5FE32428C7A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516942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E68F4-5E4C-4C55-9174-E72C68B08F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3FFE95-CE98-4E5B-9B14-7FAED0C37A1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173CB4-0DCC-4B51-8DD3-35F927C06724}"/>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96B99447-D2E0-45FB-A908-B2AA34DDB3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2164A2-C58D-469F-86F4-BFF4FE261F3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7518694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05AF0-B5F1-470C-88C5-1709C6A87E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E3570B-9A03-48E2-BC58-B38DB58070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6F85D8A-B209-40C5-95C2-5E400CA98D47}"/>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48C10364-3476-4CAC-886C-41F8D59D5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3F7437-994E-4E2B-8F70-D45766B957B8}"/>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01610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05BE1-4D89-423A-BBDF-3A95179C1D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EC1011-3B6B-4B90-B78C-05AA7FED254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033F173-32DE-4FEF-91DF-987BAC158CE8}"/>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09917F-3D29-4411-99E1-6ADD81EAD791}"/>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6" name="Footer Placeholder 5">
            <a:extLst>
              <a:ext uri="{FF2B5EF4-FFF2-40B4-BE49-F238E27FC236}">
                <a16:creationId xmlns:a16="http://schemas.microsoft.com/office/drawing/2014/main" id="{1E227096-6D76-4426-B6DF-2226929C5D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89097F-452C-4AD2-BA85-ABDBAB2B4E32}"/>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7591567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17C1-1994-4FED-B6A1-DDD756F9566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68A104-1845-4383-B73F-9FC86AAD43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ED4F46E-8DA0-4A90-B266-C0E9F4683B2D}"/>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1E7F64-DFC7-4D45-BCC3-99E0198739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63F87B1-0D0C-47E1-8CCE-250E1392AF07}"/>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FC3128-FFDA-42FA-9827-D632C88C1913}"/>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8" name="Footer Placeholder 7">
            <a:extLst>
              <a:ext uri="{FF2B5EF4-FFF2-40B4-BE49-F238E27FC236}">
                <a16:creationId xmlns:a16="http://schemas.microsoft.com/office/drawing/2014/main" id="{29B7BCE4-E73E-4312-9F8A-BABA8EF5FD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5E0457A-F1E6-420D-B2D2-5B53640E8285}"/>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092709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4AF7D-B98E-44F6-89B4-AF21658BF7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6583D8-8B9C-4B37-B6B7-02EC4A2614C2}"/>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4" name="Footer Placeholder 3">
            <a:extLst>
              <a:ext uri="{FF2B5EF4-FFF2-40B4-BE49-F238E27FC236}">
                <a16:creationId xmlns:a16="http://schemas.microsoft.com/office/drawing/2014/main" id="{2689516F-E077-480A-888A-2F447ECCFC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BD8E149-5DEF-401E-90E6-81FE88B2E4F5}"/>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806667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24EB61-7DB1-4BAE-8339-747189541B9A}"/>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3" name="Footer Placeholder 2">
            <a:extLst>
              <a:ext uri="{FF2B5EF4-FFF2-40B4-BE49-F238E27FC236}">
                <a16:creationId xmlns:a16="http://schemas.microsoft.com/office/drawing/2014/main" id="{F6975454-7BD6-4C7E-A9B8-41A57C1A2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7B98693-120F-4F84-BD3D-7B49DDD90F4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204963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255EB-48C3-4AAC-A1DD-141BDECCD4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13ECDBE-6947-4E81-A4F8-737E82A8A5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49BDD29-D63C-41F0-9BE1-1D913B631F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7C7D8BE-8C4D-48F2-B021-30232BF8CA3D}"/>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6" name="Footer Placeholder 5">
            <a:extLst>
              <a:ext uri="{FF2B5EF4-FFF2-40B4-BE49-F238E27FC236}">
                <a16:creationId xmlns:a16="http://schemas.microsoft.com/office/drawing/2014/main" id="{E4F66ACD-3E13-41D3-AF4E-8087ED99C1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14159F-ACF7-4882-A309-0A1BE4BAC7E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593529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18AA0-F43C-407C-8218-2F7DA992FD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6498B13-702F-4A11-B943-C9C1A0F56A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5392A64-6753-4E61-A480-4D6E9D7BB2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0D0D4E3-D348-4362-92ED-B0CC99877F8B}"/>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6" name="Footer Placeholder 5">
            <a:extLst>
              <a:ext uri="{FF2B5EF4-FFF2-40B4-BE49-F238E27FC236}">
                <a16:creationId xmlns:a16="http://schemas.microsoft.com/office/drawing/2014/main" id="{10E013C9-9351-454D-905D-43B2D084CB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C93BBA-6C6F-4C8B-BB00-9D11D58A5E3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2094155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AB816-AFF9-438B-A014-8636B10313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C4ECEC-88BD-448B-85C0-A488F7F63AE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0A302E-E0EC-4433-AF63-4B8DF1714254}"/>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EB9D8E9D-32DF-48B4-A61E-B42BF6D688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0F8A80-A0AD-43D8-BE2E-1C575342B65A}"/>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500132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5A08FA-CC3B-4BB6-AA58-4B7365F910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69CC4A9-EC3D-4EFB-A99D-521E02CE842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F8465-1D6E-4FF6-9982-A3BBF0426BCA}"/>
              </a:ext>
            </a:extLst>
          </p:cNvPr>
          <p:cNvSpPr>
            <a:spLocks noGrp="1"/>
          </p:cNvSpPr>
          <p:nvPr>
            <p:ph type="dt" sz="half" idx="10"/>
          </p:nvPr>
        </p:nvSpPr>
        <p:spPr/>
        <p:txBody>
          <a:body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5881B9CD-3E70-4756-873C-09823A5C63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21F235-DE89-4663-8E10-9D955A2D213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23144552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CC90B3-FB83-41EC-8231-9024261739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5CCBBF-1D41-4AAD-BD26-CC1BDA54D1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98CFB9-BE09-486F-8F0F-3608811855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A95E5-C2EC-41F0-BC1A-D335DA715808}" type="datetimeFigureOut">
              <a:rPr lang="en-US" smtClean="0"/>
              <a:t>11/28/2022</a:t>
            </a:fld>
            <a:endParaRPr lang="en-US"/>
          </a:p>
        </p:txBody>
      </p:sp>
      <p:sp>
        <p:nvSpPr>
          <p:cNvPr id="5" name="Footer Placeholder 4">
            <a:extLst>
              <a:ext uri="{FF2B5EF4-FFF2-40B4-BE49-F238E27FC236}">
                <a16:creationId xmlns:a16="http://schemas.microsoft.com/office/drawing/2014/main" id="{C431F339-0F16-415C-B125-46E1328E19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29DDB0D-F804-43B8-BBC5-8D8828A083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D0CEF5D-B9D1-44BA-818A-79D19BF3F630}" type="slidenum">
              <a:rPr lang="en-US" smtClean="0"/>
              <a:t>‹#›</a:t>
            </a:fld>
            <a:endParaRPr lang="en-US"/>
          </a:p>
        </p:txBody>
      </p:sp>
    </p:spTree>
    <p:extLst>
      <p:ext uri="{BB962C8B-B14F-4D97-AF65-F5344CB8AC3E}">
        <p14:creationId xmlns:p14="http://schemas.microsoft.com/office/powerpoint/2010/main" val="6526806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127.0.0.1/phpmyadmin/index.php"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png"/><Relationship Id="rId7" Type="http://schemas.openxmlformats.org/officeDocument/2006/relationships/image" Target="../media/image4.png"/><Relationship Id="rId2" Type="http://schemas.openxmlformats.org/officeDocument/2006/relationships/customXml" Target="../ink/ink1.xml"/><Relationship Id="rId1" Type="http://schemas.openxmlformats.org/officeDocument/2006/relationships/slideLayout" Target="../slideLayouts/slideLayout4.xml"/><Relationship Id="rId6" Type="http://schemas.openxmlformats.org/officeDocument/2006/relationships/customXml" Target="../ink/ink4.xml"/><Relationship Id="rId5" Type="http://schemas.openxmlformats.org/officeDocument/2006/relationships/customXml" Target="../ink/ink3.xml"/><Relationship Id="rId4" Type="http://schemas.openxmlformats.org/officeDocument/2006/relationships/customXml" Target="../ink/ink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C7E72-45DD-42A6-88DC-DE3198957969}"/>
              </a:ext>
            </a:extLst>
          </p:cNvPr>
          <p:cNvSpPr>
            <a:spLocks noGrp="1"/>
          </p:cNvSpPr>
          <p:nvPr>
            <p:ph type="ctrTitle"/>
          </p:nvPr>
        </p:nvSpPr>
        <p:spPr>
          <a:xfrm>
            <a:off x="1524000" y="489397"/>
            <a:ext cx="9144000" cy="1609860"/>
          </a:xfrm>
        </p:spPr>
        <p:txBody>
          <a:bodyPr>
            <a:normAutofit/>
          </a:bodyPr>
          <a:lstStyle/>
          <a:p>
            <a:r>
              <a:rPr lang="en-US" sz="5400" dirty="0">
                <a:latin typeface="Times New Roman" panose="02020603050405020304" pitchFamily="18" charset="0"/>
                <a:cs typeface="Times New Roman" panose="02020603050405020304" pitchFamily="18" charset="0"/>
              </a:rPr>
              <a:t>Ticketing Software</a:t>
            </a:r>
          </a:p>
        </p:txBody>
      </p:sp>
      <p:sp>
        <p:nvSpPr>
          <p:cNvPr id="5" name="TextBox 4">
            <a:extLst>
              <a:ext uri="{FF2B5EF4-FFF2-40B4-BE49-F238E27FC236}">
                <a16:creationId xmlns:a16="http://schemas.microsoft.com/office/drawing/2014/main" id="{38CA6213-1938-4DD1-9A43-662385B5923A}"/>
              </a:ext>
            </a:extLst>
          </p:cNvPr>
          <p:cNvSpPr txBox="1"/>
          <p:nvPr/>
        </p:nvSpPr>
        <p:spPr>
          <a:xfrm>
            <a:off x="4486141" y="5022761"/>
            <a:ext cx="3219718" cy="615553"/>
          </a:xfrm>
          <a:prstGeom prst="rect">
            <a:avLst/>
          </a:prstGeom>
          <a:noFill/>
        </p:spPr>
        <p:txBody>
          <a:bodyPr wrap="square" rtlCol="0">
            <a:spAutoFit/>
          </a:bodyPr>
          <a:lstStyle/>
          <a:p>
            <a:pPr algn="ctr"/>
            <a:r>
              <a:rPr lang="en-US" sz="3400" b="1" dirty="0">
                <a:latin typeface="Times New Roman" panose="02020603050405020304" pitchFamily="18" charset="0"/>
                <a:cs typeface="Times New Roman" panose="02020603050405020304" pitchFamily="18" charset="0"/>
              </a:rPr>
              <a:t>Group - 4</a:t>
            </a:r>
          </a:p>
        </p:txBody>
      </p:sp>
    </p:spTree>
    <p:extLst>
      <p:ext uri="{BB962C8B-B14F-4D97-AF65-F5344CB8AC3E}">
        <p14:creationId xmlns:p14="http://schemas.microsoft.com/office/powerpoint/2010/main" val="3408284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13E69-31E9-47BA-A534-FB8072F69F02}"/>
              </a:ext>
            </a:extLst>
          </p:cNvPr>
          <p:cNvSpPr>
            <a:spLocks noGrp="1"/>
          </p:cNvSpPr>
          <p:nvPr>
            <p:ph type="title"/>
          </p:nvPr>
        </p:nvSpPr>
        <p:spPr>
          <a:xfrm>
            <a:off x="838200" y="180304"/>
            <a:ext cx="10515600" cy="695460"/>
          </a:xfrm>
        </p:spPr>
        <p:txBody>
          <a:bodyPr>
            <a:normAutofit/>
          </a:bodyPr>
          <a:lstStyle/>
          <a:p>
            <a:r>
              <a:rPr lang="en-US" b="1" u="sng" dirty="0">
                <a:latin typeface="Times New Roman" panose="02020603050405020304" pitchFamily="18" charset="0"/>
                <a:cs typeface="Times New Roman" panose="02020603050405020304" pitchFamily="18" charset="0"/>
              </a:rPr>
              <a:t>Glossary</a:t>
            </a:r>
          </a:p>
        </p:txBody>
      </p:sp>
      <p:sp>
        <p:nvSpPr>
          <p:cNvPr id="3" name="Content Placeholder 2">
            <a:extLst>
              <a:ext uri="{FF2B5EF4-FFF2-40B4-BE49-F238E27FC236}">
                <a16:creationId xmlns:a16="http://schemas.microsoft.com/office/drawing/2014/main" id="{216835BA-B28E-491F-A027-84042747CA8A}"/>
              </a:ext>
            </a:extLst>
          </p:cNvPr>
          <p:cNvSpPr>
            <a:spLocks noGrp="1"/>
          </p:cNvSpPr>
          <p:nvPr>
            <p:ph idx="1"/>
          </p:nvPr>
        </p:nvSpPr>
        <p:spPr>
          <a:xfrm>
            <a:off x="838200" y="1146220"/>
            <a:ext cx="10515600" cy="5346654"/>
          </a:xfrm>
        </p:spPr>
        <p:txBody>
          <a:bodyPr>
            <a:normAutofit fontScale="92500" lnSpcReduction="20000"/>
          </a:bodyPr>
          <a:lstStyle/>
          <a:p>
            <a:r>
              <a:rPr lang="en-US" sz="3200" dirty="0"/>
              <a:t>Introduction</a:t>
            </a:r>
          </a:p>
          <a:p>
            <a:r>
              <a:rPr lang="en-US" sz="3200" dirty="0"/>
              <a:t>Tools and Technologies</a:t>
            </a:r>
          </a:p>
          <a:p>
            <a:r>
              <a:rPr lang="en-US" sz="3200" dirty="0"/>
              <a:t>Development Process</a:t>
            </a:r>
          </a:p>
          <a:p>
            <a:r>
              <a:rPr lang="en-US" sz="3200" dirty="0"/>
              <a:t>Conceptualization</a:t>
            </a:r>
          </a:p>
          <a:p>
            <a:r>
              <a:rPr lang="en-US" sz="3200" dirty="0"/>
              <a:t>Functional Requirements</a:t>
            </a:r>
          </a:p>
          <a:p>
            <a:r>
              <a:rPr lang="en-US" sz="3200" dirty="0"/>
              <a:t>Design</a:t>
            </a:r>
          </a:p>
          <a:p>
            <a:pPr lvl="1"/>
            <a:r>
              <a:rPr lang="en-US" sz="2800" dirty="0"/>
              <a:t>Data design</a:t>
            </a:r>
          </a:p>
          <a:p>
            <a:pPr lvl="1"/>
            <a:r>
              <a:rPr lang="en-US" sz="2800" dirty="0"/>
              <a:t>Data structure</a:t>
            </a:r>
          </a:p>
          <a:p>
            <a:pPr lvl="1"/>
            <a:r>
              <a:rPr lang="en-US" sz="2800" dirty="0"/>
              <a:t>Architecture Design</a:t>
            </a:r>
          </a:p>
          <a:p>
            <a:r>
              <a:rPr lang="en-US" sz="3200" dirty="0"/>
              <a:t>System Organization</a:t>
            </a:r>
          </a:p>
          <a:p>
            <a:r>
              <a:rPr lang="en-US" sz="3200" dirty="0"/>
              <a:t>Test Cases</a:t>
            </a:r>
          </a:p>
          <a:p>
            <a:r>
              <a:rPr lang="en-US" sz="3200" dirty="0"/>
              <a:t>Summary</a:t>
            </a:r>
          </a:p>
          <a:p>
            <a:endParaRPr lang="en-US" dirty="0"/>
          </a:p>
        </p:txBody>
      </p:sp>
    </p:spTree>
    <p:extLst>
      <p:ext uri="{BB962C8B-B14F-4D97-AF65-F5344CB8AC3E}">
        <p14:creationId xmlns:p14="http://schemas.microsoft.com/office/powerpoint/2010/main" val="3290298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8C72C-6AD7-4247-886E-7C12FAF995AD}"/>
              </a:ext>
            </a:extLst>
          </p:cNvPr>
          <p:cNvSpPr>
            <a:spLocks noGrp="1"/>
          </p:cNvSpPr>
          <p:nvPr>
            <p:ph type="title"/>
          </p:nvPr>
        </p:nvSpPr>
        <p:spPr>
          <a:xfrm>
            <a:off x="838200" y="365126"/>
            <a:ext cx="10515600" cy="1038672"/>
          </a:xfrm>
        </p:spPr>
        <p:txBody>
          <a:bodyPr/>
          <a:lstStyle/>
          <a:p>
            <a:r>
              <a:rPr lang="en-US" b="1" u="sng"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4A508B99-36B0-46FC-BAF0-0984DD19747F}"/>
              </a:ext>
            </a:extLst>
          </p:cNvPr>
          <p:cNvSpPr>
            <a:spLocks noGrp="1"/>
          </p:cNvSpPr>
          <p:nvPr>
            <p:ph idx="1"/>
          </p:nvPr>
        </p:nvSpPr>
        <p:spPr>
          <a:xfrm>
            <a:off x="838200" y="1403798"/>
            <a:ext cx="10515600" cy="4773165"/>
          </a:xfrm>
        </p:spPr>
        <p:txBody>
          <a:bodyPr>
            <a:normAutofit/>
          </a:bodyPr>
          <a:lstStyle/>
          <a:p>
            <a:pPr marL="0" indent="0" algn="just">
              <a:lnSpc>
                <a:spcPct val="100000"/>
              </a:lnSpc>
              <a:buNone/>
            </a:pPr>
            <a:r>
              <a:rPr lang="en-US" sz="2000" dirty="0">
                <a:latin typeface="Times New Roman" panose="02020603050405020304" pitchFamily="18" charset="0"/>
                <a:cs typeface="Times New Roman" panose="02020603050405020304" pitchFamily="18" charset="0"/>
              </a:rPr>
              <a:t>System development often referred to as the application development life cycle, is the architecting of the system via planning, creating, testing, and deploying it as well. </a:t>
            </a:r>
          </a:p>
          <a:p>
            <a:pPr marL="0" indent="0" algn="just">
              <a:lnSpc>
                <a:spcPct val="100000"/>
              </a:lnSpc>
              <a:buNone/>
            </a:pPr>
            <a:r>
              <a:rPr lang="en-US" sz="2000" dirty="0">
                <a:latin typeface="Times New Roman" panose="02020603050405020304" pitchFamily="18" charset="0"/>
                <a:cs typeface="Times New Roman" panose="02020603050405020304" pitchFamily="18" charset="0"/>
              </a:rPr>
              <a:t>In this presentation, we shall discuss our system development process in stage one, as well as the full plan of the system thereof.</a:t>
            </a:r>
          </a:p>
          <a:p>
            <a:pPr marL="0" indent="0" algn="just">
              <a:lnSpc>
                <a:spcPct val="100000"/>
              </a:lnSpc>
              <a:buNone/>
            </a:pPr>
            <a:endParaRPr lang="en-US" sz="2000" dirty="0">
              <a:latin typeface="Times New Roman" panose="02020603050405020304" pitchFamily="18" charset="0"/>
              <a:cs typeface="Times New Roman" panose="02020603050405020304" pitchFamily="18" charset="0"/>
            </a:endParaRPr>
          </a:p>
          <a:p>
            <a:pPr marL="0" indent="0" algn="just">
              <a:lnSpc>
                <a:spcPct val="100000"/>
              </a:lnSpc>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This project is accentual in a way that an issue can be posted to the particular department authority immediately, to solve problem, in this case we are preparing this project to reach the student’s requirement in the university. The main agenda of our project is to create a software, ticketing tool, where every individual can either suggest or inform according to their perspective, regarding certain issue, to the officials. </a:t>
            </a:r>
          </a:p>
          <a:p>
            <a:pPr marL="0" indent="0" algn="just">
              <a:lnSpc>
                <a:spcPct val="100000"/>
              </a:lnSpc>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3582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97ECB-04AE-C49E-9156-E52523E9BABB}"/>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Introduction(</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p>
        </p:txBody>
      </p:sp>
      <p:sp>
        <p:nvSpPr>
          <p:cNvPr id="3" name="Content Placeholder 2">
            <a:extLst>
              <a:ext uri="{FF2B5EF4-FFF2-40B4-BE49-F238E27FC236}">
                <a16:creationId xmlns:a16="http://schemas.microsoft.com/office/drawing/2014/main" id="{EB8329A8-7495-948A-8378-65C189A23E7C}"/>
              </a:ext>
            </a:extLst>
          </p:cNvPr>
          <p:cNvSpPr>
            <a:spLocks noGrp="1"/>
          </p:cNvSpPr>
          <p:nvPr>
            <p:ph idx="1"/>
          </p:nvPr>
        </p:nvSpPr>
        <p:spPr/>
        <p:txBody>
          <a:bodyPr>
            <a:normAutofit/>
          </a:bodyPr>
          <a:lstStyle/>
          <a:p>
            <a:pPr marL="0" marR="0" indent="0">
              <a:lnSpc>
                <a:spcPct val="115000"/>
              </a:lnSpc>
              <a:spcBef>
                <a:spcPts val="0"/>
              </a:spcBef>
              <a:spcAft>
                <a:spcPts val="0"/>
              </a:spcAft>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This is one of the various software, which is helpful to rectify complications, ticketing tool. By using the web, we can raise an issue, so called ticket, it’ll reach to the respective host. This process not only help the students but also the management, in this way they can improve their respective task and help them to notice and solve easily, besides going through abundant mails.</a:t>
            </a:r>
          </a:p>
        </p:txBody>
      </p:sp>
    </p:spTree>
    <p:extLst>
      <p:ext uri="{BB962C8B-B14F-4D97-AF65-F5344CB8AC3E}">
        <p14:creationId xmlns:p14="http://schemas.microsoft.com/office/powerpoint/2010/main" val="3444983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BEE50-E888-47FC-DA40-71F06C126409}"/>
              </a:ext>
            </a:extLst>
          </p:cNvPr>
          <p:cNvSpPr>
            <a:spLocks noGrp="1"/>
          </p:cNvSpPr>
          <p:nvPr>
            <p:ph type="title"/>
          </p:nvPr>
        </p:nvSpPr>
        <p:spPr/>
        <p:txBody>
          <a:bodyPr>
            <a:normAutofit/>
          </a:bodyPr>
          <a:lstStyle/>
          <a:p>
            <a:r>
              <a:rPr lang="en-US" b="1" u="sng" dirty="0">
                <a:latin typeface="Times New Roman" panose="02020603050405020304" pitchFamily="18" charset="0"/>
                <a:cs typeface="Times New Roman" panose="02020603050405020304" pitchFamily="18" charset="0"/>
              </a:rPr>
              <a:t>Tools and Technologies</a:t>
            </a:r>
          </a:p>
        </p:txBody>
      </p:sp>
      <p:sp>
        <p:nvSpPr>
          <p:cNvPr id="3" name="Content Placeholder 2">
            <a:extLst>
              <a:ext uri="{FF2B5EF4-FFF2-40B4-BE49-F238E27FC236}">
                <a16:creationId xmlns:a16="http://schemas.microsoft.com/office/drawing/2014/main" id="{D2A41ABE-1403-ABC4-1D36-8C0ADCDAFBA8}"/>
              </a:ext>
            </a:extLst>
          </p:cNvPr>
          <p:cNvSpPr>
            <a:spLocks noGrp="1"/>
          </p:cNvSpPr>
          <p:nvPr>
            <p:ph idx="1"/>
          </p:nvPr>
        </p:nvSpPr>
        <p:spPr/>
        <p:txBody>
          <a:bodyPr>
            <a:normAutofit fontScale="92500" lnSpcReduction="20000"/>
          </a:bodyPr>
          <a:lstStyle/>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Technology/Domain: Java</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Front-End: JSP, Html, CSS, JS, Bootstrap.</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Server-side: Servlet.</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Back-end: MYSQL.</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Server: </a:t>
            </a:r>
            <a:r>
              <a:rPr lang="en-US" sz="1800" dirty="0" err="1">
                <a:effectLst/>
                <a:latin typeface="Calibri" panose="020F0502020204030204" pitchFamily="34" charset="0"/>
                <a:ea typeface="Calibri" panose="020F0502020204030204" pitchFamily="34" charset="0"/>
                <a:cs typeface="Times New Roman" panose="02020603050405020304" pitchFamily="18" charset="0"/>
              </a:rPr>
              <a:t>Xampp</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b="1" u="sng" dirty="0">
                <a:effectLst/>
                <a:latin typeface="Calibri" panose="020F0502020204030204" pitchFamily="34" charset="0"/>
                <a:ea typeface="Calibri" panose="020F0502020204030204" pitchFamily="34" charset="0"/>
                <a:cs typeface="Times New Roman" panose="02020603050405020304" pitchFamily="18" charset="0"/>
              </a:rPr>
              <a:t>Modules and Functionalities of Helpdesk Ticket System</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There are two main roles that is Admin &amp; User. Let us see the functionality of each</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15000"/>
              </a:lnSpc>
              <a:spcBef>
                <a:spcPts val="0"/>
              </a:spcBef>
              <a:spcAft>
                <a:spcPts val="0"/>
              </a:spcAft>
              <a:buFont typeface="+mj-lt"/>
              <a:buAutoNum type="arabicPeriod"/>
            </a:pP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u="sng" dirty="0">
                <a:effectLst/>
                <a:latin typeface="Calibri" panose="020F0502020204030204" pitchFamily="34" charset="0"/>
                <a:ea typeface="Calibri" panose="020F0502020204030204" pitchFamily="34" charset="0"/>
                <a:cs typeface="Calibri" panose="020F0502020204030204" pitchFamily="34" charset="0"/>
              </a:rPr>
              <a:t>Admin</a:t>
            </a:r>
            <a:r>
              <a:rPr lang="en-US" sz="1800" u="sng" dirty="0">
                <a:latin typeface="Calibri" panose="020F0502020204030204" pitchFamily="34" charset="0"/>
                <a:ea typeface="Calibri" panose="020F0502020204030204" pitchFamily="34" charset="0"/>
                <a:cs typeface="Calibri" panose="020F0502020204030204" pitchFamily="34"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ADD/VIEW/UPDATE/DELETE ticket category(type).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ADD/VIEW/UPDATE/DELETE ticket status.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ADD/VIEW/UPDATE/DELETE a new ticket.</a:t>
            </a:r>
            <a:endParaRPr lang="en-US" sz="1800" dirty="0">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VIEW/UPDATE/DELETE tickets raised by users.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 comments on a particular ticket raised.</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close the ticket also.</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VIEW all the users in the system.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133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7BA17-17A2-A6A0-4F77-849140385C24}"/>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Tools and Technologies(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4E6ADF95-5A10-6590-B6C8-B9435BF77C44}"/>
              </a:ext>
            </a:extLst>
          </p:cNvPr>
          <p:cNvSpPr>
            <a:spLocks noGrp="1"/>
          </p:cNvSpPr>
          <p:nvPr>
            <p:ph idx="1"/>
          </p:nvPr>
        </p:nvSpPr>
        <p:spPr/>
        <p:txBody>
          <a:bodyPr>
            <a:normAutofit/>
          </a:bodyPr>
          <a:lstStyle/>
          <a:p>
            <a:pPr marL="342900" marR="0" lvl="0" indent="-342900">
              <a:lnSpc>
                <a:spcPct val="115000"/>
              </a:lnSpc>
              <a:spcBef>
                <a:spcPts val="0"/>
              </a:spcBef>
              <a:spcAft>
                <a:spcPts val="0"/>
              </a:spcAft>
              <a:buAutoNum type="arabicPeriod" startAt="2"/>
            </a:pPr>
            <a:r>
              <a:rPr lang="en-US" sz="2000" u="sng" dirty="0">
                <a:effectLst/>
                <a:latin typeface="Times New Roman" panose="02020603050405020304" pitchFamily="18" charset="0"/>
                <a:ea typeface="Calibri" panose="020F0502020204030204" pitchFamily="34" charset="0"/>
                <a:cs typeface="Times New Roman" panose="02020603050405020304" pitchFamily="18" charset="0"/>
              </a:rPr>
              <a:t>User</a:t>
            </a:r>
            <a:r>
              <a:rPr lang="en-US" sz="2000" u="sng" dirty="0">
                <a:latin typeface="Times New Roman" panose="02020603050405020304" pitchFamily="18" charset="0"/>
                <a:ea typeface="Calibri" panose="020F0502020204030204" pitchFamily="34" charset="0"/>
                <a:cs typeface="Times New Roman" panose="02020603050405020304" pitchFamily="18" charset="0"/>
              </a:rPr>
              <a:t>:</a:t>
            </a: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Users can raise helpdesk tickets.</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Users can VIEW/UPDATE/DELETE tickets raised.</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It can ADD the comment also.</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952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05C7-68AA-412E-982E-4E3E642CBEF7}"/>
              </a:ext>
            </a:extLst>
          </p:cNvPr>
          <p:cNvSpPr>
            <a:spLocks noGrp="1"/>
          </p:cNvSpPr>
          <p:nvPr>
            <p:ph type="title"/>
          </p:nvPr>
        </p:nvSpPr>
        <p:spPr>
          <a:xfrm>
            <a:off x="838200" y="365125"/>
            <a:ext cx="10515600" cy="1115945"/>
          </a:xfrm>
        </p:spPr>
        <p:txBody>
          <a:bodyPr/>
          <a:lstStyle/>
          <a:p>
            <a:r>
              <a:rPr lang="en-US" b="1" u="sng" dirty="0">
                <a:latin typeface="Times New Roman" panose="02020603050405020304" pitchFamily="18" charset="0"/>
                <a:cs typeface="Times New Roman" panose="02020603050405020304" pitchFamily="18" charset="0"/>
              </a:rPr>
              <a:t>Development Process</a:t>
            </a:r>
          </a:p>
        </p:txBody>
      </p:sp>
      <p:pic>
        <p:nvPicPr>
          <p:cNvPr id="5" name="Content Placeholder 4">
            <a:extLst>
              <a:ext uri="{FF2B5EF4-FFF2-40B4-BE49-F238E27FC236}">
                <a16:creationId xmlns:a16="http://schemas.microsoft.com/office/drawing/2014/main" id="{7C143E8A-1F2D-4999-B220-A770AA16DB7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07713" y="1313645"/>
            <a:ext cx="8976573" cy="5179230"/>
          </a:xfrm>
        </p:spPr>
      </p:pic>
    </p:spTree>
    <p:extLst>
      <p:ext uri="{BB962C8B-B14F-4D97-AF65-F5344CB8AC3E}">
        <p14:creationId xmlns:p14="http://schemas.microsoft.com/office/powerpoint/2010/main" val="3723275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10FB-F3BF-4324-9107-4931905A01F7}"/>
              </a:ext>
            </a:extLst>
          </p:cNvPr>
          <p:cNvSpPr>
            <a:spLocks noGrp="1"/>
          </p:cNvSpPr>
          <p:nvPr>
            <p:ph type="title"/>
          </p:nvPr>
        </p:nvSpPr>
        <p:spPr>
          <a:xfrm>
            <a:off x="838200" y="365125"/>
            <a:ext cx="10515600" cy="1025793"/>
          </a:xfrm>
        </p:spPr>
        <p:txBody>
          <a:bodyPr/>
          <a:lstStyle/>
          <a:p>
            <a:r>
              <a:rPr lang="en-US" b="1" u="sng" dirty="0">
                <a:latin typeface="Times New Roman" panose="02020603050405020304" pitchFamily="18" charset="0"/>
                <a:cs typeface="Times New Roman" panose="02020603050405020304" pitchFamily="18" charset="0"/>
              </a:rPr>
              <a:t>Conceptualization</a:t>
            </a:r>
          </a:p>
        </p:txBody>
      </p:sp>
      <p:sp>
        <p:nvSpPr>
          <p:cNvPr id="3" name="Content Placeholder 2">
            <a:extLst>
              <a:ext uri="{FF2B5EF4-FFF2-40B4-BE49-F238E27FC236}">
                <a16:creationId xmlns:a16="http://schemas.microsoft.com/office/drawing/2014/main" id="{156FF470-2C1B-4D5B-82BB-E008E73952EF}"/>
              </a:ext>
            </a:extLst>
          </p:cNvPr>
          <p:cNvSpPr>
            <a:spLocks noGrp="1"/>
          </p:cNvSpPr>
          <p:nvPr>
            <p:ph idx="1"/>
          </p:nvPr>
        </p:nvSpPr>
        <p:spPr>
          <a:xfrm>
            <a:off x="838200" y="1275008"/>
            <a:ext cx="10515600" cy="4901955"/>
          </a:xfrm>
        </p:spPr>
        <p:txBody>
          <a:bodyPr>
            <a:normAutofit fontScale="92500" lnSpcReduction="10000"/>
          </a:bodyPr>
          <a:lstStyle/>
          <a:p>
            <a:pPr marL="0" indent="0">
              <a:buNone/>
            </a:pPr>
            <a:r>
              <a:rPr lang="en-US" dirty="0">
                <a:latin typeface="Times New Roman" panose="02020603050405020304" pitchFamily="18" charset="0"/>
                <a:cs typeface="Times New Roman" panose="02020603050405020304" pitchFamily="18" charset="0"/>
              </a:rPr>
              <a:t>Target Audience: </a:t>
            </a:r>
          </a:p>
          <a:p>
            <a:pPr marL="0" indent="0">
              <a:buNone/>
            </a:pPr>
            <a:r>
              <a:rPr lang="en-US" dirty="0">
                <a:latin typeface="Times New Roman" panose="02020603050405020304" pitchFamily="18" charset="0"/>
                <a:cs typeface="Times New Roman" panose="02020603050405020304" pitchFamily="18" charset="0"/>
              </a:rPr>
              <a:t>	- Corporate market </a:t>
            </a:r>
          </a:p>
          <a:p>
            <a:pPr marL="0" indent="0">
              <a:buNone/>
            </a:pPr>
            <a:r>
              <a:rPr lang="en-US" dirty="0">
                <a:latin typeface="Times New Roman" panose="02020603050405020304" pitchFamily="18" charset="0"/>
                <a:cs typeface="Times New Roman" panose="02020603050405020304" pitchFamily="18" charset="0"/>
              </a:rPr>
              <a:t>	- Social Market</a:t>
            </a:r>
          </a:p>
          <a:p>
            <a:pPr marL="0" indent="0">
              <a:buNone/>
            </a:pPr>
            <a:r>
              <a:rPr lang="en-US" dirty="0">
                <a:latin typeface="Times New Roman" panose="02020603050405020304" pitchFamily="18" charset="0"/>
                <a:cs typeface="Times New Roman" panose="02020603050405020304" pitchFamily="18" charset="0"/>
              </a:rPr>
              <a:t>Goals: </a:t>
            </a:r>
          </a:p>
          <a:p>
            <a:pPr marL="0" indent="0">
              <a:buNone/>
            </a:pPr>
            <a:r>
              <a:rPr lang="en-US" dirty="0">
                <a:latin typeface="Times New Roman" panose="02020603050405020304" pitchFamily="18" charset="0"/>
                <a:cs typeface="Times New Roman" panose="02020603050405020304" pitchFamily="18" charset="0"/>
              </a:rPr>
              <a:t>	Short Term Goals:</a:t>
            </a:r>
          </a:p>
          <a:p>
            <a:pPr marL="914400" lvl="2" indent="0">
              <a:buNone/>
            </a:pPr>
            <a:r>
              <a:rPr lang="en-US"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Speed up the process of ticket issuance and ensuring an 	efficient process.</a:t>
            </a:r>
          </a:p>
          <a:p>
            <a:pPr marL="0" indent="0">
              <a:buNone/>
            </a:pPr>
            <a:r>
              <a:rPr lang="en-US" dirty="0">
                <a:latin typeface="Times New Roman" panose="02020603050405020304" pitchFamily="18" charset="0"/>
                <a:cs typeface="Times New Roman" panose="02020603050405020304" pitchFamily="18" charset="0"/>
              </a:rPr>
              <a:t>	Long Term Goals:</a:t>
            </a:r>
          </a:p>
          <a:p>
            <a:pPr marL="0" indent="0">
              <a:buNone/>
            </a:pPr>
            <a:r>
              <a:rPr lang="en-US" dirty="0">
                <a:latin typeface="Times New Roman" panose="02020603050405020304" pitchFamily="18" charset="0"/>
                <a:cs typeface="Times New Roman" panose="02020603050405020304" pitchFamily="18" charset="0"/>
              </a:rPr>
              <a:t>		Track, manage, and automate event booking with the issuance 		of tickets. Efficient practice is the core goal for the proposed 			system.</a:t>
            </a:r>
          </a:p>
          <a:p>
            <a:pPr marL="0" indent="0">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948838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A32A9B-CBB6-0D2E-9AFD-78BCDEAD40D8}"/>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p>
        </p:txBody>
      </p:sp>
      <p:sp>
        <p:nvSpPr>
          <p:cNvPr id="3" name="Content Placeholder 2">
            <a:extLst>
              <a:ext uri="{FF2B5EF4-FFF2-40B4-BE49-F238E27FC236}">
                <a16:creationId xmlns:a16="http://schemas.microsoft.com/office/drawing/2014/main" id="{A13DF30A-71B9-B69B-2A58-D26803FA47A1}"/>
              </a:ext>
            </a:extLst>
          </p:cNvPr>
          <p:cNvSpPr>
            <a:spLocks noGrp="1"/>
          </p:cNvSpPr>
          <p:nvPr>
            <p:ph idx="1"/>
          </p:nvPr>
        </p:nvSpPr>
        <p:spPr/>
        <p:txBody>
          <a:bodyPr>
            <a:normAutofit/>
          </a:bodyPr>
          <a:lstStyle/>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Functional requirements simply refer to the product features. The product features consist of the aid features that enable users to accomplish their tasks. The requirements must consist of system behaviors under specific conditions.</a:t>
            </a:r>
            <a:endParaRPr lang="en-US" sz="1800" dirty="0">
              <a:effectLst/>
              <a:latin typeface="Arial" panose="020B0604020202020204" pitchFamily="34" charset="0"/>
              <a:ea typeface="Arial" panose="020B0604020202020204" pitchFamily="34" charset="0"/>
            </a:endParaRPr>
          </a:p>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These requirements do not describe the implementable, rather, they describe the question, how?</a:t>
            </a:r>
            <a:endParaRPr lang="en-US" sz="1800" dirty="0">
              <a:effectLst/>
              <a:latin typeface="Arial" panose="020B0604020202020204" pitchFamily="34" charset="0"/>
              <a:ea typeface="Arial" panose="020B0604020202020204" pitchFamily="34" charset="0"/>
            </a:endParaRPr>
          </a:p>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Technically, defining functional requirements describes the base start of the software development and implementation. </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36326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0F79-0984-A5BD-8397-870B27801F17}"/>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endParaRPr lang="en-US" dirty="0"/>
          </a:p>
        </p:txBody>
      </p:sp>
      <p:sp>
        <p:nvSpPr>
          <p:cNvPr id="3" name="Content Placeholder 2">
            <a:extLst>
              <a:ext uri="{FF2B5EF4-FFF2-40B4-BE49-F238E27FC236}">
                <a16:creationId xmlns:a16="http://schemas.microsoft.com/office/drawing/2014/main" id="{431BD9B5-C104-7488-B6B1-744ACD63A856}"/>
              </a:ext>
            </a:extLst>
          </p:cNvPr>
          <p:cNvSpPr>
            <a:spLocks noGrp="1"/>
          </p:cNvSpPr>
          <p:nvPr>
            <p:ph idx="1"/>
          </p:nvPr>
        </p:nvSpPr>
        <p:spPr/>
        <p:txBody>
          <a:bodyPr>
            <a:normAutofit lnSpcReduction="10000"/>
          </a:bodyPr>
          <a:lstStyle/>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The functional requirements of the Ticketing Tool would be as follows:</a:t>
            </a:r>
            <a:endParaRPr lang="en-US" sz="1800" dirty="0">
              <a:effectLst/>
              <a:latin typeface="Arial" panose="020B0604020202020204" pitchFamily="34" charset="0"/>
              <a:ea typeface="Arial" panose="020B0604020202020204" pitchFamily="34" charset="0"/>
            </a:endParaRPr>
          </a:p>
          <a:p>
            <a:pPr marL="342900" marR="0" lvl="0" indent="-342900" algn="just">
              <a:lnSpc>
                <a:spcPct val="200000"/>
              </a:lnSpc>
              <a:spcBef>
                <a:spcPts val="0"/>
              </a:spcBef>
              <a:spcAft>
                <a:spcPts val="0"/>
              </a:spcAft>
              <a:buFont typeface="+mj-lt"/>
              <a:buAutoNum type="arabicPeriod"/>
            </a:pPr>
            <a:r>
              <a:rPr lang="en-US" sz="1800" b="1" u="none" strike="noStrike" dirty="0">
                <a:effectLst/>
                <a:latin typeface="Times" panose="02020603050405020304" pitchFamily="18" charset="0"/>
                <a:ea typeface="Times" panose="02020603050405020304" pitchFamily="18" charset="0"/>
              </a:rPr>
              <a:t>Authentication Module:</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The module simply allows users to be signed by the system and therefore able to login and access the dashboard. The dashboard is where an authenticated user heads to perform most tasks regarding ticketing.</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panose="02020603050405020304" pitchFamily="18" charset="0"/>
                <a:ea typeface="Times" panose="02020603050405020304" pitchFamily="18" charset="0"/>
              </a:rPr>
              <a:t>2.   Creating Events: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This module consists of one task which acts as the main driver of issuing tickets and so on and so forth. Creating events and assigning status for each event helps the ticket issuer to issue the tickets in respect to the Event chosen.</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21056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E318A-5F6C-BE05-629F-5DE62D3DAE42}"/>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AB3D8991-0EFE-CFA9-12A6-C6B421756715}"/>
              </a:ext>
            </a:extLst>
          </p:cNvPr>
          <p:cNvSpPr>
            <a:spLocks noGrp="1"/>
          </p:cNvSpPr>
          <p:nvPr>
            <p:ph idx="1"/>
          </p:nvPr>
        </p:nvSpPr>
        <p:spPr/>
        <p:txBody>
          <a:bodyPr>
            <a:normAutofit lnSpcReduction="10000"/>
          </a:bodyPr>
          <a:lstStyle/>
          <a:p>
            <a:pPr marL="0" marR="0" lvl="0" indent="0" algn="just">
              <a:lnSpc>
                <a:spcPct val="200000"/>
              </a:lnSpc>
              <a:spcBef>
                <a:spcPts val="0"/>
              </a:spcBef>
              <a:spcAft>
                <a:spcPts val="0"/>
              </a:spcAft>
              <a:buNone/>
            </a:pPr>
            <a:r>
              <a:rPr lang="en-US" sz="1800" b="1" dirty="0">
                <a:latin typeface="Times" panose="02020603050405020304" pitchFamily="18" charset="0"/>
                <a:ea typeface="Times" panose="02020603050405020304" pitchFamily="18" charset="0"/>
              </a:rPr>
              <a:t>3.   </a:t>
            </a:r>
            <a:r>
              <a:rPr lang="en-US" sz="1800" b="1" u="none" strike="noStrike" dirty="0">
                <a:effectLst/>
                <a:latin typeface="Times" panose="02020603050405020304" pitchFamily="18" charset="0"/>
                <a:ea typeface="Times" panose="02020603050405020304" pitchFamily="18" charset="0"/>
              </a:rPr>
              <a:t>Event management module:</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Simply conforms to the management of events, updating events details, deleting and changing of an event detail like, theme, dates and several other details and event was created initially to having.</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panose="02020603050405020304" pitchFamily="18" charset="0"/>
                <a:ea typeface="Times" panose="02020603050405020304" pitchFamily="18" charset="0"/>
              </a:rPr>
              <a:t>4.   Creating Tickets: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Well, creating tickets and issuing tickets is the main agenda and crux of the program output. Creating tickets simply handles the creation of tickets in respect to an event created, chosen and active.</a:t>
            </a:r>
            <a:endParaRPr lang="en-US" sz="1800"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Creation of tickets will be categorized in respect to events. With that said, each event will have its own tickets, so on and so forth.</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414045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5F260-D038-EC2A-380E-65C5B1F65E45}"/>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71D4E92B-C81D-768B-A74B-1123863E1089}"/>
              </a:ext>
            </a:extLst>
          </p:cNvPr>
          <p:cNvSpPr>
            <a:spLocks noGrp="1"/>
          </p:cNvSpPr>
          <p:nvPr>
            <p:ph idx="1"/>
          </p:nvPr>
        </p:nvSpPr>
        <p:spPr/>
        <p:txBody>
          <a:bodyPr>
            <a:normAutofit fontScale="85000" lnSpcReduction="20000"/>
          </a:bodyPr>
          <a:lstStyle/>
          <a:p>
            <a:pPr marL="0" marR="0" lvl="0" indent="0" algn="just">
              <a:lnSpc>
                <a:spcPct val="200000"/>
              </a:lnSpc>
              <a:spcBef>
                <a:spcPts val="0"/>
              </a:spcBef>
              <a:spcAft>
                <a:spcPts val="0"/>
              </a:spcAft>
              <a:buNone/>
            </a:pPr>
            <a:r>
              <a:rPr lang="en-US" sz="1800" b="1" u="none" strike="noStrike" dirty="0">
                <a:effectLst/>
                <a:latin typeface="Times New Roman" panose="02020603050405020304" pitchFamily="18" charset="0"/>
                <a:ea typeface="Times" panose="02020603050405020304" pitchFamily="18" charset="0"/>
              </a:rPr>
              <a:t>5.    Management of tickets: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New Roman" panose="02020603050405020304" pitchFamily="18" charset="0"/>
                <a:ea typeface="Times" panose="02020603050405020304" pitchFamily="18" charset="0"/>
              </a:rPr>
              <a:t>This module will have to deal with management of tickets as well as deletion, updating and selling of the tickets to clients. When selling a ticket, One has to pay, to receive a ticket via email.</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New Roman" panose="02020603050405020304" pitchFamily="18" charset="0"/>
                <a:ea typeface="Times" panose="02020603050405020304" pitchFamily="18" charset="0"/>
              </a:rPr>
              <a:t>6.    Users Management:</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New Roman" panose="02020603050405020304" pitchFamily="18" charset="0"/>
                <a:ea typeface="Times" panose="02020603050405020304" pitchFamily="18" charset="0"/>
              </a:rPr>
              <a:t>This is the user’s management module. System users, client users and Administration is done by this module. Users Permissions grants should be done by the administrator of the system. The system will have a super administrator, who holds all the administration rights and controls everything that system is expected to do.</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New Roman" panose="02020603050405020304" pitchFamily="18" charset="0"/>
                <a:ea typeface="Times" panose="02020603050405020304" pitchFamily="18" charset="0"/>
              </a:rPr>
              <a:t>7.    Settings Module:</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New Roman" panose="02020603050405020304" pitchFamily="18" charset="0"/>
                <a:ea typeface="Times" panose="02020603050405020304" pitchFamily="18" charset="0"/>
              </a:rPr>
              <a:t>This consists of a settings area. Administers are expected to use settings to manipulate and take care of system functionalities, so on and so forth. With settings, the user can do the needful without interfering with the real data on database and storage spaces.</a:t>
            </a:r>
            <a:endParaRPr lang="en-US" sz="1800" dirty="0">
              <a:effectLst/>
              <a:latin typeface="Arial" panose="020B0604020202020204" pitchFamily="34" charset="0"/>
              <a:ea typeface="Arial" panose="020B0604020202020204" pitchFamily="34" charset="0"/>
            </a:endParaRPr>
          </a:p>
          <a:p>
            <a:pPr marL="0" indent="0">
              <a:buNone/>
            </a:pPr>
            <a:endParaRPr lang="en-US" dirty="0"/>
          </a:p>
        </p:txBody>
      </p:sp>
    </p:spTree>
    <p:extLst>
      <p:ext uri="{BB962C8B-B14F-4D97-AF65-F5344CB8AC3E}">
        <p14:creationId xmlns:p14="http://schemas.microsoft.com/office/powerpoint/2010/main" val="3402236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D890-C81C-401F-AB4E-26A8FBF1D821}"/>
              </a:ext>
            </a:extLst>
          </p:cNvPr>
          <p:cNvSpPr>
            <a:spLocks noGrp="1"/>
          </p:cNvSpPr>
          <p:nvPr>
            <p:ph type="title"/>
          </p:nvPr>
        </p:nvSpPr>
        <p:spPr>
          <a:xfrm>
            <a:off x="838200" y="365125"/>
            <a:ext cx="10515600" cy="781095"/>
          </a:xfrm>
        </p:spPr>
        <p:txBody>
          <a:bodyPr/>
          <a:lstStyle/>
          <a:p>
            <a:r>
              <a:rPr lang="en-US" b="1" u="sng" dirty="0">
                <a:latin typeface="Times New Roman" panose="02020603050405020304" pitchFamily="18" charset="0"/>
                <a:cs typeface="Times New Roman" panose="02020603050405020304" pitchFamily="18" charset="0"/>
              </a:rPr>
              <a:t>Design</a:t>
            </a:r>
          </a:p>
        </p:txBody>
      </p:sp>
      <p:sp>
        <p:nvSpPr>
          <p:cNvPr id="3" name="Content Placeholder 2">
            <a:extLst>
              <a:ext uri="{FF2B5EF4-FFF2-40B4-BE49-F238E27FC236}">
                <a16:creationId xmlns:a16="http://schemas.microsoft.com/office/drawing/2014/main" id="{3327F971-502E-4450-9F1D-EB38461604E0}"/>
              </a:ext>
            </a:extLst>
          </p:cNvPr>
          <p:cNvSpPr>
            <a:spLocks noGrp="1"/>
          </p:cNvSpPr>
          <p:nvPr>
            <p:ph idx="1"/>
          </p:nvPr>
        </p:nvSpPr>
        <p:spPr>
          <a:xfrm>
            <a:off x="838199" y="1146220"/>
            <a:ext cx="10830059" cy="5346655"/>
          </a:xfrm>
        </p:spPr>
        <p:txBody>
          <a:bodyPr>
            <a:noAutofit/>
          </a:bodyPr>
          <a:lstStyle/>
          <a:p>
            <a:pPr marL="228600" marR="0" algn="just"/>
            <a:r>
              <a:rPr lang="en-US" sz="1800" dirty="0">
                <a:effectLst/>
                <a:latin typeface="Times New Roman" panose="02020603050405020304" pitchFamily="18" charset="0"/>
                <a:ea typeface="Times New Roman" panose="02020603050405020304" pitchFamily="18" charset="0"/>
              </a:rPr>
              <a:t>All inbound IT-related requests from customers and other corporate divisions are handled using an IT ticketing Tool. Every support request will be turned into a separate ticket by its design, which also streamlines the support procedure through features like ticket management, enhanced collaboration, automation, and others.</a:t>
            </a:r>
          </a:p>
          <a:p>
            <a:pPr algn="just"/>
            <a:r>
              <a:rPr lang="en-US" sz="1800" dirty="0">
                <a:effectLst/>
                <a:latin typeface="Times New Roman" panose="02020603050405020304" pitchFamily="18" charset="0"/>
                <a:ea typeface="Times New Roman" panose="02020603050405020304" pitchFamily="18" charset="0"/>
              </a:rPr>
              <a:t>Here are some additional goals you can accomplish with powerful IT ticketing software:</a:t>
            </a:r>
          </a:p>
          <a:p>
            <a:pPr marL="0" marR="0" lvl="0" indent="0" algn="just">
              <a:buNone/>
            </a:pPr>
            <a:r>
              <a:rPr lang="en-US" sz="1800" dirty="0">
                <a:effectLst/>
                <a:latin typeface="Times New Roman" panose="02020603050405020304" pitchFamily="18" charset="0"/>
                <a:ea typeface="Times New Roman" panose="02020603050405020304" pitchFamily="18" charset="0"/>
              </a:rPr>
              <a:t>	Bring all your support inquiries from various channels together on one platform.</a:t>
            </a:r>
          </a:p>
          <a:p>
            <a:pPr marL="0" marR="0" lvl="0" indent="0" algn="just">
              <a:buNone/>
            </a:pPr>
            <a:r>
              <a:rPr lang="en-US" sz="1800" dirty="0">
                <a:effectLst/>
                <a:latin typeface="Times New Roman" panose="02020603050405020304" pitchFamily="18" charset="0"/>
                <a:ea typeface="Times New Roman" panose="02020603050405020304" pitchFamily="18" charset="0"/>
              </a:rPr>
              <a:t>	Consolidate various inboxes into a shared inbox that all your agents may access.</a:t>
            </a:r>
          </a:p>
          <a:p>
            <a:pPr marL="0" marR="0" lvl="0" indent="0" algn="just">
              <a:buNone/>
            </a:pPr>
            <a:r>
              <a:rPr lang="en-US" sz="1800" dirty="0">
                <a:latin typeface="Times New Roman" panose="02020603050405020304" pitchFamily="18" charset="0"/>
                <a:ea typeface="Times New Roman" panose="02020603050405020304" pitchFamily="18" charset="0"/>
              </a:rPr>
              <a:t>	S</a:t>
            </a:r>
            <a:r>
              <a:rPr lang="en-US" sz="1800" dirty="0">
                <a:effectLst/>
                <a:latin typeface="Times New Roman" panose="02020603050405020304" pitchFamily="18" charset="0"/>
                <a:ea typeface="Times New Roman" panose="02020603050405020304" pitchFamily="18" charset="0"/>
              </a:rPr>
              <a:t>pecialists with tickets and monitor their progress.</a:t>
            </a:r>
          </a:p>
          <a:p>
            <a:pPr marL="0" marR="0" lvl="0" indent="0" algn="just">
              <a:buNone/>
            </a:pPr>
            <a:r>
              <a:rPr lang="en-US" sz="1800" dirty="0">
                <a:effectLst/>
                <a:latin typeface="Times New Roman" panose="02020603050405020304" pitchFamily="18" charset="0"/>
                <a:ea typeface="Times New Roman" panose="02020603050405020304" pitchFamily="18" charset="0"/>
              </a:rPr>
              <a:t>	Track and evaluate important support metrics.</a:t>
            </a:r>
          </a:p>
          <a:p>
            <a:pPr marL="0" marR="0" lvl="0" indent="0" algn="just">
              <a:buNone/>
            </a:pPr>
            <a:r>
              <a:rPr lang="en-US" sz="1800" dirty="0">
                <a:effectLst/>
                <a:latin typeface="Times New Roman" panose="02020603050405020304" pitchFamily="18" charset="0"/>
                <a:ea typeface="Times New Roman" panose="02020603050405020304" pitchFamily="18" charset="0"/>
              </a:rPr>
              <a:t>	Obtain customer feedback to enhance your IT support procedures.</a:t>
            </a:r>
            <a:endParaRPr lang="en-US" sz="1800" dirty="0">
              <a:latin typeface="Times New Roman" panose="02020603050405020304" pitchFamily="18" charset="0"/>
              <a:ea typeface="Times New Roman" panose="02020603050405020304" pitchFamily="18" charset="0"/>
            </a:endParaRPr>
          </a:p>
          <a:p>
            <a:pPr marL="0" marR="0" lvl="0" indent="0" algn="just">
              <a:buNone/>
            </a:pPr>
            <a:r>
              <a:rPr lang="en-US" sz="1800" b="1" dirty="0">
                <a:effectLst/>
                <a:latin typeface="Times New Roman" panose="02020603050405020304" pitchFamily="18" charset="0"/>
                <a:ea typeface="Times New Roman" panose="02020603050405020304" pitchFamily="18" charset="0"/>
              </a:rPr>
              <a:t>1.1 Goals and objectives</a:t>
            </a:r>
            <a:endParaRPr lang="en-US" sz="1800" dirty="0">
              <a:effectLst/>
              <a:latin typeface="Times New Roman" panose="02020603050405020304" pitchFamily="18" charset="0"/>
              <a:ea typeface="Times New Roman" panose="02020603050405020304" pitchFamily="18" charset="0"/>
            </a:endParaRPr>
          </a:p>
          <a:p>
            <a:pPr marL="457200" marR="0" algn="just"/>
            <a:r>
              <a:rPr lang="en-US" sz="1800" dirty="0">
                <a:effectLst/>
                <a:latin typeface="Times New Roman" panose="02020603050405020304" pitchFamily="18" charset="0"/>
                <a:ea typeface="Times New Roman" panose="02020603050405020304" pitchFamily="18" charset="0"/>
              </a:rPr>
              <a:t>Now, the main objective of every service provider would be to provide trustworthy support to end users, which is essentially the same. However, you can set more focused objectives, such maximizing first-contact resolutions or reducing the time it takes your support staff to respond to a problem.</a:t>
            </a:r>
          </a:p>
          <a:p>
            <a:pPr marL="457200" marR="0" algn="just"/>
            <a:r>
              <a:rPr lang="en-US" sz="1800" dirty="0">
                <a:effectLst/>
                <a:latin typeface="Times New Roman" panose="02020603050405020304" pitchFamily="18" charset="0"/>
                <a:ea typeface="Times New Roman" panose="02020603050405020304" pitchFamily="18" charset="0"/>
              </a:rPr>
              <a:t>Once your objectives are clear, you may create a strategy to accomplish them. To ensure that everyone is on the same page, it is also crucial to write down and discuss these goals with the relevant team members.</a:t>
            </a:r>
          </a:p>
          <a:p>
            <a:pPr marL="0" marR="0" lvl="0" indent="0" algn="just">
              <a:buNone/>
            </a:pP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174620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76838-6B06-4845-6D61-C14511B9A58D}"/>
              </a:ext>
            </a:extLst>
          </p:cNvPr>
          <p:cNvSpPr>
            <a:spLocks noGrp="1"/>
          </p:cNvSpPr>
          <p:nvPr>
            <p:ph type="title"/>
          </p:nvPr>
        </p:nvSpPr>
        <p:spPr/>
        <p:txBody>
          <a:bodyPr>
            <a:normAutofit/>
          </a:bodyPr>
          <a:lstStyle/>
          <a:p>
            <a:r>
              <a:rPr lang="en-US" b="1" u="sng" dirty="0">
                <a:effectLst/>
                <a:latin typeface="Times New Roman" panose="02020603050405020304" pitchFamily="18" charset="0"/>
                <a:ea typeface="Calibri" panose="020F0502020204030204" pitchFamily="34" charset="0"/>
                <a:cs typeface="Times New Roman" panose="02020603050405020304" pitchFamily="18" charset="0"/>
              </a:rPr>
              <a:t>Data design and Database description</a:t>
            </a:r>
            <a:endParaRPr lang="en-US" u="sng"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136ABB0-93DB-2389-736E-EC9556AA11FE}"/>
              </a:ext>
            </a:extLst>
          </p:cNvPr>
          <p:cNvSpPr>
            <a:spLocks noGrp="1"/>
          </p:cNvSpPr>
          <p:nvPr>
            <p:ph idx="1"/>
          </p:nvPr>
        </p:nvSpPr>
        <p:spPr/>
        <p:txBody>
          <a:bodyPr/>
          <a:lstStyle/>
          <a:p>
            <a:pPr marL="0" marR="0" indent="0" algn="just">
              <a:buNone/>
            </a:pPr>
            <a:r>
              <a:rPr lang="en-US" sz="1800" dirty="0">
                <a:effectLst/>
                <a:latin typeface="Times New Roman" panose="02020603050405020304" pitchFamily="18" charset="0"/>
                <a:ea typeface="Times New Roman" panose="02020603050405020304" pitchFamily="18" charset="0"/>
              </a:rPr>
              <a:t>phpMyAdmin a utility used to manage the administration of MySQL server where all application data is stored for you have to open phpMyAdmin portal from following link: </a:t>
            </a:r>
            <a:r>
              <a:rPr lang="en-US" sz="1800" u="sng" dirty="0">
                <a:solidFill>
                  <a:srgbClr val="0563C1"/>
                </a:solidFill>
                <a:effectLst/>
                <a:latin typeface="Times New Roman" panose="02020603050405020304" pitchFamily="18" charset="0"/>
                <a:ea typeface="Times New Roman" panose="02020603050405020304" pitchFamily="18" charset="0"/>
                <a:hlinkClick r:id="rId2"/>
              </a:rPr>
              <a:t>http://127.0.0.1/phpmyadmin/index.php</a:t>
            </a:r>
            <a:endParaRPr lang="en-US" sz="1800" dirty="0">
              <a:effectLst/>
              <a:latin typeface="Times New Roman" panose="02020603050405020304" pitchFamily="18" charset="0"/>
              <a:ea typeface="Times New Roman" panose="02020603050405020304" pitchFamily="18" charset="0"/>
            </a:endParaRPr>
          </a:p>
          <a:p>
            <a:pPr marL="0" marR="0" indent="0" algn="just">
              <a:buNone/>
            </a:pPr>
            <a:r>
              <a:rPr lang="en-US" sz="1800" dirty="0">
                <a:effectLst/>
                <a:latin typeface="Times New Roman" panose="02020603050405020304" pitchFamily="18" charset="0"/>
                <a:ea typeface="Times New Roman" panose="02020603050405020304" pitchFamily="18" charset="0"/>
              </a:rPr>
              <a:t>After, we need to create a database in the portal:</a:t>
            </a:r>
          </a:p>
          <a:p>
            <a:pPr marL="0" marR="0" indent="0" algn="just">
              <a:buNone/>
            </a:pPr>
            <a:endParaRPr lang="en-US" sz="1800" dirty="0">
              <a:effectLst/>
              <a:latin typeface="Times New Roman" panose="02020603050405020304" pitchFamily="18" charset="0"/>
              <a:ea typeface="Times New Roman" panose="02020603050405020304" pitchFamily="18" charset="0"/>
            </a:endParaRPr>
          </a:p>
        </p:txBody>
      </p:sp>
      <p:pic>
        <p:nvPicPr>
          <p:cNvPr id="16" name="Picture 15">
            <a:extLst>
              <a:ext uri="{FF2B5EF4-FFF2-40B4-BE49-F238E27FC236}">
                <a16:creationId xmlns:a16="http://schemas.microsoft.com/office/drawing/2014/main" id="{8CE6016D-89EF-E901-0042-98D0B017BE5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7289" y="2831783"/>
            <a:ext cx="5947410" cy="3345180"/>
          </a:xfrm>
          <a:prstGeom prst="rect">
            <a:avLst/>
          </a:prstGeom>
          <a:noFill/>
          <a:ln>
            <a:noFill/>
          </a:ln>
        </p:spPr>
      </p:pic>
    </p:spTree>
    <p:extLst>
      <p:ext uri="{BB962C8B-B14F-4D97-AF65-F5344CB8AC3E}">
        <p14:creationId xmlns:p14="http://schemas.microsoft.com/office/powerpoint/2010/main" val="2570610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06EE7625-B30D-2E98-D57C-BC8550106671}"/>
                  </a:ext>
                </a:extLst>
              </p14:cNvPr>
              <p14:cNvContentPartPr/>
              <p14:nvPr/>
            </p14:nvContentPartPr>
            <p14:xfrm>
              <a:off x="1923358" y="5054964"/>
              <a:ext cx="360" cy="360"/>
            </p14:xfrm>
          </p:contentPart>
        </mc:Choice>
        <mc:Fallback xmlns="">
          <p:pic>
            <p:nvPicPr>
              <p:cNvPr id="14" name="Ink 13">
                <a:extLst>
                  <a:ext uri="{FF2B5EF4-FFF2-40B4-BE49-F238E27FC236}">
                    <a16:creationId xmlns:a16="http://schemas.microsoft.com/office/drawing/2014/main" id="{06EE7625-B30D-2E98-D57C-BC8550106671}"/>
                  </a:ext>
                </a:extLst>
              </p:cNvPr>
              <p:cNvPicPr/>
              <p:nvPr/>
            </p:nvPicPr>
            <p:blipFill>
              <a:blip r:embed="rId3"/>
              <a:stretch>
                <a:fillRect/>
              </a:stretch>
            </p:blipFill>
            <p:spPr>
              <a:xfrm>
                <a:off x="1914718" y="504596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C935E610-72D4-E301-A03E-9B4479AFA430}"/>
                  </a:ext>
                </a:extLst>
              </p14:cNvPr>
              <p14:cNvContentPartPr/>
              <p14:nvPr/>
            </p14:nvContentPartPr>
            <p14:xfrm>
              <a:off x="7763638" y="2035644"/>
              <a:ext cx="360" cy="360"/>
            </p14:xfrm>
          </p:contentPart>
        </mc:Choice>
        <mc:Fallback xmlns="">
          <p:pic>
            <p:nvPicPr>
              <p:cNvPr id="15" name="Ink 14">
                <a:extLst>
                  <a:ext uri="{FF2B5EF4-FFF2-40B4-BE49-F238E27FC236}">
                    <a16:creationId xmlns:a16="http://schemas.microsoft.com/office/drawing/2014/main" id="{C935E610-72D4-E301-A03E-9B4479AFA430}"/>
                  </a:ext>
                </a:extLst>
              </p:cNvPr>
              <p:cNvPicPr/>
              <p:nvPr/>
            </p:nvPicPr>
            <p:blipFill>
              <a:blip r:embed="rId3"/>
              <a:stretch>
                <a:fillRect/>
              </a:stretch>
            </p:blipFill>
            <p:spPr>
              <a:xfrm>
                <a:off x="7754638" y="202700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4BE89D68-5D35-BF0D-D01A-B68EDE9E2F25}"/>
                  </a:ext>
                </a:extLst>
              </p14:cNvPr>
              <p14:cNvContentPartPr/>
              <p14:nvPr/>
            </p14:nvContentPartPr>
            <p14:xfrm>
              <a:off x="1147198" y="4269804"/>
              <a:ext cx="360" cy="360"/>
            </p14:xfrm>
          </p:contentPart>
        </mc:Choice>
        <mc:Fallback xmlns="">
          <p:pic>
            <p:nvPicPr>
              <p:cNvPr id="16" name="Ink 15">
                <a:extLst>
                  <a:ext uri="{FF2B5EF4-FFF2-40B4-BE49-F238E27FC236}">
                    <a16:creationId xmlns:a16="http://schemas.microsoft.com/office/drawing/2014/main" id="{4BE89D68-5D35-BF0D-D01A-B68EDE9E2F25}"/>
                  </a:ext>
                </a:extLst>
              </p:cNvPr>
              <p:cNvPicPr/>
              <p:nvPr/>
            </p:nvPicPr>
            <p:blipFill>
              <a:blip r:embed="rId3"/>
              <a:stretch>
                <a:fillRect/>
              </a:stretch>
            </p:blipFill>
            <p:spPr>
              <a:xfrm>
                <a:off x="1138198" y="426116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7" name="Ink 16">
                <a:extLst>
                  <a:ext uri="{FF2B5EF4-FFF2-40B4-BE49-F238E27FC236}">
                    <a16:creationId xmlns:a16="http://schemas.microsoft.com/office/drawing/2014/main" id="{A63F1E7E-1305-33D7-1C54-0C00141D50EA}"/>
                  </a:ext>
                </a:extLst>
              </p14:cNvPr>
              <p14:cNvContentPartPr/>
              <p14:nvPr/>
            </p14:nvContentPartPr>
            <p14:xfrm>
              <a:off x="7686238" y="457044"/>
              <a:ext cx="360" cy="360"/>
            </p14:xfrm>
          </p:contentPart>
        </mc:Choice>
        <mc:Fallback xmlns="">
          <p:pic>
            <p:nvPicPr>
              <p:cNvPr id="17" name="Ink 16">
                <a:extLst>
                  <a:ext uri="{FF2B5EF4-FFF2-40B4-BE49-F238E27FC236}">
                    <a16:creationId xmlns:a16="http://schemas.microsoft.com/office/drawing/2014/main" id="{A63F1E7E-1305-33D7-1C54-0C00141D50EA}"/>
                  </a:ext>
                </a:extLst>
              </p:cNvPr>
              <p:cNvPicPr/>
              <p:nvPr/>
            </p:nvPicPr>
            <p:blipFill>
              <a:blip r:embed="rId3"/>
              <a:stretch>
                <a:fillRect/>
              </a:stretch>
            </p:blipFill>
            <p:spPr>
              <a:xfrm>
                <a:off x="7677238" y="448044"/>
                <a:ext cx="18000" cy="18000"/>
              </a:xfrm>
              <a:prstGeom prst="rect">
                <a:avLst/>
              </a:prstGeom>
            </p:spPr>
          </p:pic>
        </mc:Fallback>
      </mc:AlternateContent>
      <p:sp>
        <p:nvSpPr>
          <p:cNvPr id="19" name="Content Placeholder 18">
            <a:extLst>
              <a:ext uri="{FF2B5EF4-FFF2-40B4-BE49-F238E27FC236}">
                <a16:creationId xmlns:a16="http://schemas.microsoft.com/office/drawing/2014/main" id="{27727D15-7879-8287-55BF-BA6EA2FAFC22}"/>
              </a:ext>
            </a:extLst>
          </p:cNvPr>
          <p:cNvSpPr>
            <a:spLocks noGrp="1"/>
          </p:cNvSpPr>
          <p:nvPr>
            <p:ph sz="half" idx="1"/>
          </p:nvPr>
        </p:nvSpPr>
        <p:spPr>
          <a:xfrm>
            <a:off x="838200" y="681038"/>
            <a:ext cx="5181600" cy="5495925"/>
          </a:xfrm>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We need to create a database</a:t>
            </a:r>
          </a:p>
          <a:p>
            <a:r>
              <a:rPr lang="en-US" sz="1800" dirty="0">
                <a:effectLst/>
                <a:latin typeface="Calibri" panose="020F0502020204030204" pitchFamily="34" charset="0"/>
                <a:ea typeface="Calibri" panose="020F0502020204030204" pitchFamily="34" charset="0"/>
                <a:cs typeface="Times New Roman" panose="02020603050405020304" pitchFamily="18" charset="0"/>
              </a:rPr>
              <a:t>Give same database name mentioned in MySQL server</a:t>
            </a:r>
          </a:p>
        </p:txBody>
      </p:sp>
      <p:sp>
        <p:nvSpPr>
          <p:cNvPr id="20" name="Content Placeholder 19">
            <a:extLst>
              <a:ext uri="{FF2B5EF4-FFF2-40B4-BE49-F238E27FC236}">
                <a16:creationId xmlns:a16="http://schemas.microsoft.com/office/drawing/2014/main" id="{5891D332-0EC4-BBD5-A525-27CD962910CF}"/>
              </a:ext>
            </a:extLst>
          </p:cNvPr>
          <p:cNvSpPr>
            <a:spLocks noGrp="1"/>
          </p:cNvSpPr>
          <p:nvPr>
            <p:ph sz="half" idx="2"/>
          </p:nvPr>
        </p:nvSpPr>
        <p:spPr>
          <a:xfrm>
            <a:off x="6096000" y="1825625"/>
            <a:ext cx="5257800" cy="4351338"/>
          </a:xfrm>
        </p:spPr>
        <p:txBody>
          <a:bodyPr/>
          <a:lstStyle/>
          <a:p>
            <a:pPr marL="0" indent="0">
              <a:buNone/>
            </a:pPr>
            <a:r>
              <a:rPr lang="en-US" sz="1800" dirty="0">
                <a:effectLst/>
                <a:latin typeface="Times New Roman" panose="02020603050405020304" pitchFamily="18" charset="0"/>
                <a:ea typeface="Times New Roman" panose="02020603050405020304" pitchFamily="18" charset="0"/>
              </a:rPr>
              <a:t>Database has been created</a:t>
            </a:r>
          </a:p>
          <a:p>
            <a:pPr marL="0" indent="0">
              <a:buNone/>
            </a:pPr>
            <a:endParaRPr lang="en-US" sz="1800" dirty="0">
              <a:effectLst/>
              <a:latin typeface="Times New Roman" panose="02020603050405020304" pitchFamily="18" charset="0"/>
              <a:ea typeface="Times New Roman" panose="02020603050405020304" pitchFamily="18" charset="0"/>
            </a:endParaRPr>
          </a:p>
        </p:txBody>
      </p:sp>
      <p:pic>
        <p:nvPicPr>
          <p:cNvPr id="23" name="Picture 22">
            <a:extLst>
              <a:ext uri="{FF2B5EF4-FFF2-40B4-BE49-F238E27FC236}">
                <a16:creationId xmlns:a16="http://schemas.microsoft.com/office/drawing/2014/main" id="{75912C1F-ECEC-146D-4696-2905BD6321EF}"/>
              </a:ext>
            </a:extLst>
          </p:cNvPr>
          <p:cNvPicPr>
            <a:picLocks noChangeAspect="1"/>
          </p:cNvPicPr>
          <p:nvPr/>
        </p:nvPicPr>
        <p:blipFill>
          <a:blip r:embed="rId7"/>
          <a:stretch>
            <a:fillRect/>
          </a:stretch>
        </p:blipFill>
        <p:spPr>
          <a:xfrm>
            <a:off x="453894" y="3114135"/>
            <a:ext cx="5437948" cy="3062827"/>
          </a:xfrm>
          <a:prstGeom prst="rect">
            <a:avLst/>
          </a:prstGeom>
        </p:spPr>
      </p:pic>
      <p:pic>
        <p:nvPicPr>
          <p:cNvPr id="24" name="Picture 23">
            <a:extLst>
              <a:ext uri="{FF2B5EF4-FFF2-40B4-BE49-F238E27FC236}">
                <a16:creationId xmlns:a16="http://schemas.microsoft.com/office/drawing/2014/main" id="{1BBE37C0-1ED1-3A5A-4FC8-233AD088424E}"/>
              </a:ext>
            </a:extLst>
          </p:cNvPr>
          <p:cNvPicPr>
            <a:picLocks noChangeAspect="1"/>
          </p:cNvPicPr>
          <p:nvPr/>
        </p:nvPicPr>
        <p:blipFill>
          <a:blip r:embed="rId8"/>
          <a:stretch>
            <a:fillRect/>
          </a:stretch>
        </p:blipFill>
        <p:spPr>
          <a:xfrm>
            <a:off x="6200839" y="2246023"/>
            <a:ext cx="5354673" cy="3127154"/>
          </a:xfrm>
          <a:prstGeom prst="rect">
            <a:avLst/>
          </a:prstGeom>
        </p:spPr>
      </p:pic>
    </p:spTree>
    <p:extLst>
      <p:ext uri="{BB962C8B-B14F-4D97-AF65-F5344CB8AC3E}">
        <p14:creationId xmlns:p14="http://schemas.microsoft.com/office/powerpoint/2010/main" val="437126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13DF61C-9F6C-0877-4E39-DF45617A5FA0}"/>
              </a:ext>
            </a:extLst>
          </p:cNvPr>
          <p:cNvSpPr>
            <a:spLocks noGrp="1"/>
          </p:cNvSpPr>
          <p:nvPr>
            <p:ph type="body" sz="half" idx="2"/>
          </p:nvPr>
        </p:nvSpPr>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Once the database has been created now, we need to create tables, attributes for the tables and define the primary key, foreign key, and unique key for each table</a:t>
            </a:r>
            <a:endParaRPr lang="en-US" dirty="0"/>
          </a:p>
        </p:txBody>
      </p:sp>
      <p:pic>
        <p:nvPicPr>
          <p:cNvPr id="9" name="Picture Placeholder 8">
            <a:extLst>
              <a:ext uri="{FF2B5EF4-FFF2-40B4-BE49-F238E27FC236}">
                <a16:creationId xmlns:a16="http://schemas.microsoft.com/office/drawing/2014/main" id="{D3903BD2-75B4-4E74-E866-540EAA9AD9C1}"/>
              </a:ext>
            </a:extLst>
          </p:cNvPr>
          <p:cNvPicPr>
            <a:picLocks noGrp="1" noChangeAspect="1"/>
          </p:cNvPicPr>
          <p:nvPr>
            <p:ph type="pic" idx="1"/>
          </p:nvPr>
        </p:nvPicPr>
        <p:blipFill>
          <a:blip r:embed="rId2" cstate="print">
            <a:extLst>
              <a:ext uri="{28A0092B-C50C-407E-A947-70E740481C1C}">
                <a14:useLocalDpi xmlns:a14="http://schemas.microsoft.com/office/drawing/2010/main" val="0"/>
              </a:ext>
            </a:extLst>
          </a:blip>
          <a:srcRect l="14763" r="14763"/>
          <a:stretch>
            <a:fillRect/>
          </a:stretch>
        </p:blipFill>
        <p:spPr bwMode="auto">
          <a:xfrm>
            <a:off x="5183188" y="987425"/>
            <a:ext cx="6172200" cy="4873625"/>
          </a:xfrm>
          <a:prstGeom prst="rect">
            <a:avLst/>
          </a:prstGeom>
          <a:noFill/>
          <a:ln>
            <a:noFill/>
          </a:ln>
        </p:spPr>
      </p:pic>
    </p:spTree>
    <p:extLst>
      <p:ext uri="{BB962C8B-B14F-4D97-AF65-F5344CB8AC3E}">
        <p14:creationId xmlns:p14="http://schemas.microsoft.com/office/powerpoint/2010/main" val="2078977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B415957-CA93-897D-E368-3348BEAB8498}"/>
              </a:ext>
            </a:extLst>
          </p:cNvPr>
          <p:cNvSpPr>
            <a:spLocks noGrp="1"/>
          </p:cNvSpPr>
          <p:nvPr>
            <p:ph type="title"/>
          </p:nvPr>
        </p:nvSpPr>
        <p:spPr/>
        <p:txBody>
          <a:bodyPr/>
          <a:lstStyle/>
          <a:p>
            <a:r>
              <a:rPr lang="en-US" u="sng" dirty="0">
                <a:latin typeface="Times New Roman" panose="02020603050405020304" pitchFamily="18" charset="0"/>
                <a:cs typeface="Times New Roman" panose="02020603050405020304" pitchFamily="18" charset="0"/>
              </a:rPr>
              <a:t>Data structures</a:t>
            </a:r>
          </a:p>
        </p:txBody>
      </p:sp>
      <p:sp>
        <p:nvSpPr>
          <p:cNvPr id="8" name="Content Placeholder 7">
            <a:extLst>
              <a:ext uri="{FF2B5EF4-FFF2-40B4-BE49-F238E27FC236}">
                <a16:creationId xmlns:a16="http://schemas.microsoft.com/office/drawing/2014/main" id="{D85BBCFE-0D6A-0ABE-799A-7CF07B4DC039}"/>
              </a:ext>
            </a:extLst>
          </p:cNvPr>
          <p:cNvSpPr>
            <a:spLocks noGrp="1"/>
          </p:cNvSpPr>
          <p:nvPr>
            <p:ph idx="1"/>
          </p:nvPr>
        </p:nvSpPr>
        <p:spPr/>
        <p:txBody>
          <a:bodyPr>
            <a:normAutofit/>
          </a:bodyPr>
          <a:lstStyle/>
          <a:p>
            <a:r>
              <a:rPr lang="en-US" sz="2000" dirty="0">
                <a:effectLst/>
                <a:latin typeface="Times New Roman" panose="02020603050405020304" pitchFamily="18" charset="0"/>
                <a:ea typeface="Times New Roman" panose="02020603050405020304" pitchFamily="18" charset="0"/>
              </a:rPr>
              <a:t>To perform and store all essential data, we primarily employ Character and Integer data types. The character data type is used to store all string-formatted inputs. </a:t>
            </a:r>
          </a:p>
          <a:p>
            <a:r>
              <a:rPr lang="en-US" sz="2000" dirty="0">
                <a:effectLst/>
                <a:latin typeface="Times New Roman" panose="02020603050405020304" pitchFamily="18" charset="0"/>
                <a:ea typeface="Times New Roman" panose="02020603050405020304" pitchFamily="18" charset="0"/>
              </a:rPr>
              <a:t>And we are using datetime module which allows to track the ticket created by user like when it was created and when the ticket was solved. </a:t>
            </a:r>
          </a:p>
          <a:p>
            <a:r>
              <a:rPr lang="en-US" sz="2000" dirty="0">
                <a:effectLst/>
                <a:latin typeface="Times New Roman" panose="02020603050405020304" pitchFamily="18" charset="0"/>
                <a:ea typeface="Times New Roman" panose="02020603050405020304" pitchFamily="18" charset="0"/>
              </a:rPr>
              <a:t>Also, we used the </a:t>
            </a:r>
            <a:r>
              <a:rPr lang="en-US" sz="2000" dirty="0" err="1">
                <a:effectLst/>
                <a:latin typeface="Times New Roman" panose="02020603050405020304" pitchFamily="18" charset="0"/>
                <a:ea typeface="Times New Roman" panose="02020603050405020304" pitchFamily="18" charset="0"/>
              </a:rPr>
              <a:t>longtext</a:t>
            </a:r>
            <a:r>
              <a:rPr lang="en-US" sz="2000" dirty="0">
                <a:effectLst/>
                <a:latin typeface="Times New Roman" panose="02020603050405020304" pitchFamily="18" charset="0"/>
                <a:ea typeface="Times New Roman" panose="02020603050405020304" pitchFamily="18" charset="0"/>
              </a:rPr>
              <a:t> datatype for user message or description to state problem which the user is facing.</a:t>
            </a:r>
          </a:p>
        </p:txBody>
      </p:sp>
    </p:spTree>
    <p:extLst>
      <p:ext uri="{BB962C8B-B14F-4D97-AF65-F5344CB8AC3E}">
        <p14:creationId xmlns:p14="http://schemas.microsoft.com/office/powerpoint/2010/main" val="11336170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99E8F8-F7A1-A664-B978-96BE07151AFA}"/>
              </a:ext>
            </a:extLst>
          </p:cNvPr>
          <p:cNvSpPr>
            <a:spLocks noGrp="1"/>
          </p:cNvSpPr>
          <p:nvPr>
            <p:ph idx="1"/>
          </p:nvPr>
        </p:nvSpPr>
        <p:spPr>
          <a:xfrm>
            <a:off x="838200" y="517585"/>
            <a:ext cx="10515600" cy="5659378"/>
          </a:xfrm>
        </p:spPr>
        <p:txBody>
          <a:bodyPr/>
          <a:lstStyle/>
          <a:p>
            <a:pPr marL="0" indent="0">
              <a:buNone/>
            </a:pPr>
            <a:r>
              <a:rPr lang="en-US" sz="1800" dirty="0">
                <a:effectLst/>
                <a:latin typeface="Times New Roman" panose="02020603050405020304" pitchFamily="18" charset="0"/>
                <a:ea typeface="Times New Roman" panose="02020603050405020304" pitchFamily="18" charset="0"/>
              </a:rPr>
              <a:t>The Database schema as follows:</a:t>
            </a:r>
          </a:p>
          <a:p>
            <a:pPr marL="0" indent="0">
              <a:buNone/>
            </a:pPr>
            <a:endParaRPr lang="en-US" sz="1800" dirty="0">
              <a:effectLst/>
              <a:latin typeface="Times New Roman" panose="02020603050405020304" pitchFamily="18" charset="0"/>
              <a:ea typeface="Times New Roman" panose="02020603050405020304" pitchFamily="18" charset="0"/>
            </a:endParaRPr>
          </a:p>
          <a:p>
            <a:pPr marL="0" indent="0">
              <a:buNone/>
            </a:pPr>
            <a:endParaRPr lang="en-US" sz="1800" dirty="0">
              <a:effectLst/>
              <a:latin typeface="Times New Roman" panose="02020603050405020304" pitchFamily="18" charset="0"/>
              <a:ea typeface="Times New Roman" panose="02020603050405020304" pitchFamily="18" charset="0"/>
            </a:endParaRPr>
          </a:p>
        </p:txBody>
      </p:sp>
      <p:pic>
        <p:nvPicPr>
          <p:cNvPr id="6" name="Picture 5">
            <a:extLst>
              <a:ext uri="{FF2B5EF4-FFF2-40B4-BE49-F238E27FC236}">
                <a16:creationId xmlns:a16="http://schemas.microsoft.com/office/drawing/2014/main" id="{25207BC4-C3D9-E55E-DBD2-557EF7AE284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126105" y="1377315"/>
            <a:ext cx="5939790" cy="4103370"/>
          </a:xfrm>
          <a:prstGeom prst="rect">
            <a:avLst/>
          </a:prstGeom>
          <a:noFill/>
          <a:ln>
            <a:noFill/>
          </a:ln>
        </p:spPr>
      </p:pic>
    </p:spTree>
    <p:extLst>
      <p:ext uri="{BB962C8B-B14F-4D97-AF65-F5344CB8AC3E}">
        <p14:creationId xmlns:p14="http://schemas.microsoft.com/office/powerpoint/2010/main" val="2120225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AB75-3A9B-4B09-0A3B-C41E3D15483F}"/>
              </a:ext>
            </a:extLst>
          </p:cNvPr>
          <p:cNvSpPr>
            <a:spLocks noGrp="1"/>
          </p:cNvSpPr>
          <p:nvPr>
            <p:ph type="title"/>
          </p:nvPr>
        </p:nvSpPr>
        <p:spPr/>
        <p:txBody>
          <a:bodyPr>
            <a:normAutofit/>
          </a:bodyPr>
          <a:lstStyle/>
          <a:p>
            <a:r>
              <a:rPr lang="en-US" b="1" u="sng" dirty="0">
                <a:effectLst/>
                <a:latin typeface="Times New Roman" panose="02020603050405020304" pitchFamily="18" charset="0"/>
                <a:ea typeface="Calibri" panose="020F0502020204030204" pitchFamily="34" charset="0"/>
                <a:cs typeface="Times New Roman" panose="02020603050405020304" pitchFamily="18" charset="0"/>
              </a:rPr>
              <a:t>Architectural and component-level design</a:t>
            </a:r>
            <a:endParaRPr lang="en-US" b="1" u="sng"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26A677A-1F14-2C9B-3A75-54F833D3C78E}"/>
              </a:ext>
            </a:extLst>
          </p:cNvPr>
          <p:cNvSpPr>
            <a:spLocks noGrp="1"/>
          </p:cNvSpPr>
          <p:nvPr>
            <p:ph idx="1"/>
          </p:nvPr>
        </p:nvSpPr>
        <p:spPr/>
        <p:txBody>
          <a:bodyPr/>
          <a:lstStyle/>
          <a:p>
            <a:pPr marL="0" indent="0">
              <a:buNone/>
            </a:pPr>
            <a:r>
              <a:rPr lang="en-US" sz="1800" dirty="0">
                <a:effectLst/>
                <a:latin typeface="Times New Roman" panose="02020603050405020304" pitchFamily="18" charset="0"/>
                <a:ea typeface="Times New Roman" panose="02020603050405020304" pitchFamily="18" charset="0"/>
              </a:rPr>
              <a:t>Clients are nothing but the end user who raise tickets once the ticket is raised which basically sends a request to different application server and the request is sent based on the incoming traffic to server for example, is a server is busy then it transfers the request to another server this technique is called </a:t>
            </a:r>
            <a:r>
              <a:rPr lang="en-US" sz="1800" b="1" dirty="0">
                <a:effectLst/>
                <a:latin typeface="Times New Roman" panose="02020603050405020304" pitchFamily="18" charset="0"/>
                <a:ea typeface="Times New Roman" panose="02020603050405020304" pitchFamily="18" charset="0"/>
              </a:rPr>
              <a:t>Load Balancing</a:t>
            </a:r>
            <a:r>
              <a:rPr lang="en-US" sz="1800" dirty="0">
                <a:effectLst/>
                <a:latin typeface="Times New Roman" panose="02020603050405020304" pitchFamily="18" charset="0"/>
                <a:ea typeface="Times New Roman" panose="02020603050405020304" pitchFamily="18" charset="0"/>
              </a:rPr>
              <a:t>.</a:t>
            </a:r>
          </a:p>
          <a:p>
            <a:pPr marL="0" indent="0">
              <a:buNone/>
            </a:pPr>
            <a:r>
              <a:rPr lang="en-US" sz="1800" b="1" dirty="0">
                <a:effectLst/>
                <a:latin typeface="Times New Roman" panose="02020603050405020304" pitchFamily="18" charset="0"/>
                <a:ea typeface="Times New Roman" panose="02020603050405020304" pitchFamily="18" charset="0"/>
              </a:rPr>
              <a:t>The framework of load balancer:</a:t>
            </a:r>
            <a:endParaRPr lang="en-US" sz="1800" dirty="0">
              <a:effectLst/>
              <a:latin typeface="Times New Roman" panose="02020603050405020304" pitchFamily="18" charset="0"/>
              <a:ea typeface="Times New Roman" panose="02020603050405020304" pitchFamily="18" charset="0"/>
            </a:endParaRPr>
          </a:p>
          <a:p>
            <a:pPr marL="0" indent="0">
              <a:buNone/>
            </a:pPr>
            <a:endParaRPr lang="en-US" sz="1800" dirty="0">
              <a:effectLst/>
              <a:latin typeface="Times New Roman" panose="02020603050405020304" pitchFamily="18" charset="0"/>
              <a:ea typeface="Times New Roman" panose="02020603050405020304" pitchFamily="18" charset="0"/>
            </a:endParaRPr>
          </a:p>
          <a:p>
            <a:pPr marL="0" indent="0">
              <a:buNone/>
            </a:pPr>
            <a:endParaRPr lang="en-US" dirty="0"/>
          </a:p>
        </p:txBody>
      </p:sp>
      <p:pic>
        <p:nvPicPr>
          <p:cNvPr id="8" name="Picture 7">
            <a:extLst>
              <a:ext uri="{FF2B5EF4-FFF2-40B4-BE49-F238E27FC236}">
                <a16:creationId xmlns:a16="http://schemas.microsoft.com/office/drawing/2014/main" id="{82DE2988-7F5E-C7AA-42B4-97DCD478415A}"/>
              </a:ext>
            </a:extLst>
          </p:cNvPr>
          <p:cNvPicPr>
            <a:picLocks noChangeAspect="1"/>
          </p:cNvPicPr>
          <p:nvPr/>
        </p:nvPicPr>
        <p:blipFill>
          <a:blip r:embed="rId2"/>
          <a:stretch>
            <a:fillRect/>
          </a:stretch>
        </p:blipFill>
        <p:spPr>
          <a:xfrm>
            <a:off x="3246036" y="3310309"/>
            <a:ext cx="4578493" cy="2462997"/>
          </a:xfrm>
          <a:prstGeom prst="rect">
            <a:avLst/>
          </a:prstGeom>
        </p:spPr>
      </p:pic>
    </p:spTree>
    <p:extLst>
      <p:ext uri="{BB962C8B-B14F-4D97-AF65-F5344CB8AC3E}">
        <p14:creationId xmlns:p14="http://schemas.microsoft.com/office/powerpoint/2010/main" val="1782213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1A66F1-F8FE-34E9-7E70-88AD71CADC79}"/>
              </a:ext>
            </a:extLst>
          </p:cNvPr>
          <p:cNvSpPr>
            <a:spLocks noGrp="1"/>
          </p:cNvSpPr>
          <p:nvPr>
            <p:ph idx="1"/>
          </p:nvPr>
        </p:nvSpPr>
        <p:spPr>
          <a:xfrm>
            <a:off x="838200" y="414068"/>
            <a:ext cx="10515600" cy="5745642"/>
          </a:xfrm>
        </p:spPr>
        <p:txBody>
          <a:bodyPr/>
          <a:lstStyle/>
          <a:p>
            <a:pPr marR="0" indent="0">
              <a:buNone/>
            </a:pPr>
            <a:r>
              <a:rPr lang="en-US" sz="1800" b="1" dirty="0">
                <a:effectLst/>
                <a:latin typeface="Times New Roman" panose="02020603050405020304" pitchFamily="18" charset="0"/>
                <a:ea typeface="Times New Roman" panose="02020603050405020304" pitchFamily="18" charset="0"/>
              </a:rPr>
              <a:t>Architecture diagrams:</a:t>
            </a:r>
            <a:endParaRPr lang="en-US" sz="1800" dirty="0">
              <a:effectLst/>
              <a:latin typeface="Times New Roman" panose="02020603050405020304" pitchFamily="18" charset="0"/>
              <a:ea typeface="Times New Roman" panose="02020603050405020304" pitchFamily="18" charset="0"/>
            </a:endParaRPr>
          </a:p>
          <a:p>
            <a:pPr marL="457200" marR="0" algn="just"/>
            <a:r>
              <a:rPr lang="en-US" sz="1800" dirty="0">
                <a:effectLst/>
                <a:latin typeface="Times New Roman" panose="02020603050405020304" pitchFamily="18" charset="0"/>
                <a:ea typeface="Times New Roman" panose="02020603050405020304" pitchFamily="18" charset="0"/>
              </a:rPr>
              <a:t>Clients are simply end users who raise tickets. When a ticket is raised, a request is sent to a different application server based on incoming traffic; for instance, if a server is busy, the request is transferred to another server.</a:t>
            </a:r>
          </a:p>
          <a:p>
            <a:pPr marL="0" indent="0">
              <a:buNone/>
            </a:pPr>
            <a:r>
              <a:rPr lang="en-US" dirty="0"/>
              <a:t>	</a:t>
            </a:r>
          </a:p>
        </p:txBody>
      </p:sp>
      <p:pic>
        <p:nvPicPr>
          <p:cNvPr id="4" name="Picture 3" descr="Diagram&#10;&#10;Description automatically generated">
            <a:extLst>
              <a:ext uri="{FF2B5EF4-FFF2-40B4-BE49-F238E27FC236}">
                <a16:creationId xmlns:a16="http://schemas.microsoft.com/office/drawing/2014/main" id="{9A898194-BF9D-5246-0C01-9FD29312D43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99205" y="1817053"/>
            <a:ext cx="5318916" cy="4359910"/>
          </a:xfrm>
          <a:prstGeom prst="rect">
            <a:avLst/>
          </a:prstGeom>
          <a:noFill/>
          <a:ln>
            <a:noFill/>
          </a:ln>
        </p:spPr>
      </p:pic>
    </p:spTree>
    <p:extLst>
      <p:ext uri="{BB962C8B-B14F-4D97-AF65-F5344CB8AC3E}">
        <p14:creationId xmlns:p14="http://schemas.microsoft.com/office/powerpoint/2010/main" val="36477053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999DE-B29D-4518-87BE-905636C1B795}"/>
              </a:ext>
            </a:extLst>
          </p:cNvPr>
          <p:cNvSpPr>
            <a:spLocks noGrp="1"/>
          </p:cNvSpPr>
          <p:nvPr>
            <p:ph type="title"/>
          </p:nvPr>
        </p:nvSpPr>
        <p:spPr>
          <a:xfrm>
            <a:off x="838200" y="365125"/>
            <a:ext cx="10515600" cy="935641"/>
          </a:xfrm>
        </p:spPr>
        <p:txBody>
          <a:bodyPr/>
          <a:lstStyle/>
          <a:p>
            <a:r>
              <a:rPr lang="en-US" b="1" u="sng" dirty="0">
                <a:latin typeface="Times New Roman" panose="02020603050405020304" pitchFamily="18" charset="0"/>
                <a:cs typeface="Times New Roman" panose="02020603050405020304" pitchFamily="18" charset="0"/>
              </a:rPr>
              <a:t>Ready Prototype System Pages</a:t>
            </a:r>
          </a:p>
        </p:txBody>
      </p:sp>
      <p:sp>
        <p:nvSpPr>
          <p:cNvPr id="6" name="TextBox 5">
            <a:extLst>
              <a:ext uri="{FF2B5EF4-FFF2-40B4-BE49-F238E27FC236}">
                <a16:creationId xmlns:a16="http://schemas.microsoft.com/office/drawing/2014/main" id="{B1869EF5-7C44-47F0-8AEF-015A1A9FB884}"/>
              </a:ext>
            </a:extLst>
          </p:cNvPr>
          <p:cNvSpPr txBox="1"/>
          <p:nvPr/>
        </p:nvSpPr>
        <p:spPr>
          <a:xfrm>
            <a:off x="838200" y="6104586"/>
            <a:ext cx="9464899"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Fig 1.1: Login Page</a:t>
            </a:r>
          </a:p>
        </p:txBody>
      </p:sp>
      <p:sp>
        <p:nvSpPr>
          <p:cNvPr id="4" name="Content Placeholder 3">
            <a:extLst>
              <a:ext uri="{FF2B5EF4-FFF2-40B4-BE49-F238E27FC236}">
                <a16:creationId xmlns:a16="http://schemas.microsoft.com/office/drawing/2014/main" id="{2FBEA211-D357-D549-91E0-6E714AAEE64A}"/>
              </a:ext>
            </a:extLst>
          </p:cNvPr>
          <p:cNvSpPr>
            <a:spLocks noGrp="1"/>
          </p:cNvSpPr>
          <p:nvPr>
            <p:ph idx="1"/>
          </p:nvPr>
        </p:nvSpPr>
        <p:spPr/>
        <p:txBody>
          <a:bodyPr/>
          <a:lstStyle/>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54BC0266-3F2C-2467-1B47-FD3F5637B3D2}"/>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06770" y="1678526"/>
            <a:ext cx="7686135" cy="4351338"/>
          </a:xfrm>
          <a:prstGeom prst="rect">
            <a:avLst/>
          </a:prstGeom>
          <a:noFill/>
          <a:ln>
            <a:noFill/>
          </a:ln>
        </p:spPr>
      </p:pic>
    </p:spTree>
    <p:extLst>
      <p:ext uri="{BB962C8B-B14F-4D97-AF65-F5344CB8AC3E}">
        <p14:creationId xmlns:p14="http://schemas.microsoft.com/office/powerpoint/2010/main" val="4106739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171A00E-D32C-4C0C-998A-B102D6B8EA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673655"/>
            <a:ext cx="10515600" cy="5242403"/>
          </a:xfrm>
        </p:spPr>
      </p:pic>
      <p:sp>
        <p:nvSpPr>
          <p:cNvPr id="6" name="TextBox 5">
            <a:extLst>
              <a:ext uri="{FF2B5EF4-FFF2-40B4-BE49-F238E27FC236}">
                <a16:creationId xmlns:a16="http://schemas.microsoft.com/office/drawing/2014/main" id="{9BC8B216-958D-4604-9CE2-D7F0FB263555}"/>
              </a:ext>
            </a:extLst>
          </p:cNvPr>
          <p:cNvSpPr txBox="1"/>
          <p:nvPr/>
        </p:nvSpPr>
        <p:spPr>
          <a:xfrm>
            <a:off x="746975" y="6130344"/>
            <a:ext cx="9633397"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Fig 1.2: Signup Page</a:t>
            </a:r>
          </a:p>
        </p:txBody>
      </p:sp>
    </p:spTree>
    <p:extLst>
      <p:ext uri="{BB962C8B-B14F-4D97-AF65-F5344CB8AC3E}">
        <p14:creationId xmlns:p14="http://schemas.microsoft.com/office/powerpoint/2010/main" val="107729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BF192DB-B2B1-449C-B355-BD6CD3D6E9A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435348"/>
            <a:ext cx="10515600" cy="5563441"/>
          </a:xfrm>
        </p:spPr>
      </p:pic>
      <p:sp>
        <p:nvSpPr>
          <p:cNvPr id="6" name="TextBox 5">
            <a:extLst>
              <a:ext uri="{FF2B5EF4-FFF2-40B4-BE49-F238E27FC236}">
                <a16:creationId xmlns:a16="http://schemas.microsoft.com/office/drawing/2014/main" id="{CF0E0C7F-9C9C-4B66-88BB-1E09CE8360AE}"/>
              </a:ext>
            </a:extLst>
          </p:cNvPr>
          <p:cNvSpPr txBox="1"/>
          <p:nvPr/>
        </p:nvSpPr>
        <p:spPr>
          <a:xfrm>
            <a:off x="631065" y="6246254"/>
            <a:ext cx="10722735"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Fig 1.3: System Dashboard UI</a:t>
            </a:r>
          </a:p>
        </p:txBody>
      </p:sp>
    </p:spTree>
    <p:extLst>
      <p:ext uri="{BB962C8B-B14F-4D97-AF65-F5344CB8AC3E}">
        <p14:creationId xmlns:p14="http://schemas.microsoft.com/office/powerpoint/2010/main" val="1561182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0329A5-E559-0476-52D5-BCE233346EF0}"/>
              </a:ext>
            </a:extLst>
          </p:cNvPr>
          <p:cNvSpPr>
            <a:spLocks noGrp="1"/>
          </p:cNvSpPr>
          <p:nvPr>
            <p:ph idx="1"/>
          </p:nvPr>
        </p:nvSpPr>
        <p:spPr>
          <a:xfrm>
            <a:off x="838200" y="353683"/>
            <a:ext cx="10515600" cy="5823280"/>
          </a:xfrm>
        </p:spPr>
        <p:txBody>
          <a:bodyPr/>
          <a:lstStyle/>
          <a:p>
            <a:pPr marR="0" indent="0">
              <a:buNone/>
            </a:pPr>
            <a:r>
              <a:rPr lang="en-US" sz="1800" dirty="0">
                <a:effectLst/>
                <a:latin typeface="Times New Roman" panose="02020603050405020304" pitchFamily="18" charset="0"/>
                <a:ea typeface="Times New Roman" panose="02020603050405020304" pitchFamily="18" charset="0"/>
              </a:rPr>
              <a:t>This is divided into four components:</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Ticket Management</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Client Management	</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Event Management</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User Management</a:t>
            </a:r>
          </a:p>
          <a:p>
            <a:pPr marL="0" indent="0">
              <a:buNone/>
            </a:pPr>
            <a:endParaRPr lang="en-US" dirty="0"/>
          </a:p>
        </p:txBody>
      </p:sp>
    </p:spTree>
    <p:extLst>
      <p:ext uri="{BB962C8B-B14F-4D97-AF65-F5344CB8AC3E}">
        <p14:creationId xmlns:p14="http://schemas.microsoft.com/office/powerpoint/2010/main" val="38100228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1C6B88-6106-E584-3F46-DEEA0205C31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2288" y="256349"/>
            <a:ext cx="5337175" cy="3345180"/>
          </a:xfrm>
          <a:prstGeom prst="rect">
            <a:avLst/>
          </a:prstGeom>
          <a:noFill/>
          <a:ln>
            <a:noFill/>
          </a:ln>
        </p:spPr>
      </p:pic>
      <p:pic>
        <p:nvPicPr>
          <p:cNvPr id="5" name="Picture 4">
            <a:extLst>
              <a:ext uri="{FF2B5EF4-FFF2-40B4-BE49-F238E27FC236}">
                <a16:creationId xmlns:a16="http://schemas.microsoft.com/office/drawing/2014/main" id="{1AE5C315-7707-DA91-8997-5D7B41DC061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77155" y="3309165"/>
            <a:ext cx="5359400" cy="3345180"/>
          </a:xfrm>
          <a:prstGeom prst="rect">
            <a:avLst/>
          </a:prstGeom>
          <a:noFill/>
          <a:ln>
            <a:noFill/>
          </a:ln>
        </p:spPr>
      </p:pic>
    </p:spTree>
    <p:extLst>
      <p:ext uri="{BB962C8B-B14F-4D97-AF65-F5344CB8AC3E}">
        <p14:creationId xmlns:p14="http://schemas.microsoft.com/office/powerpoint/2010/main" val="30595660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BFFD31-7BEE-997C-2A9A-01242928C81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029" y="213216"/>
            <a:ext cx="5330190" cy="3345180"/>
          </a:xfrm>
          <a:prstGeom prst="rect">
            <a:avLst/>
          </a:prstGeom>
          <a:noFill/>
          <a:ln>
            <a:noFill/>
          </a:ln>
        </p:spPr>
      </p:pic>
      <p:pic>
        <p:nvPicPr>
          <p:cNvPr id="3" name="Picture 2">
            <a:extLst>
              <a:ext uri="{FF2B5EF4-FFF2-40B4-BE49-F238E27FC236}">
                <a16:creationId xmlns:a16="http://schemas.microsoft.com/office/drawing/2014/main" id="{73792539-9B03-0596-9DFC-31ECD39D17F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6600" y="2989988"/>
            <a:ext cx="5359400" cy="3345180"/>
          </a:xfrm>
          <a:prstGeom prst="rect">
            <a:avLst/>
          </a:prstGeom>
          <a:noFill/>
          <a:ln>
            <a:noFill/>
          </a:ln>
        </p:spPr>
      </p:pic>
    </p:spTree>
    <p:extLst>
      <p:ext uri="{BB962C8B-B14F-4D97-AF65-F5344CB8AC3E}">
        <p14:creationId xmlns:p14="http://schemas.microsoft.com/office/powerpoint/2010/main" val="9892134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D4D89A-B850-AA4A-2522-158D70F28E3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606" y="333052"/>
            <a:ext cx="5419090" cy="3345180"/>
          </a:xfrm>
          <a:prstGeom prst="rect">
            <a:avLst/>
          </a:prstGeom>
          <a:noFill/>
          <a:ln>
            <a:noFill/>
          </a:ln>
        </p:spPr>
      </p:pic>
      <p:pic>
        <p:nvPicPr>
          <p:cNvPr id="3" name="Picture 2">
            <a:extLst>
              <a:ext uri="{FF2B5EF4-FFF2-40B4-BE49-F238E27FC236}">
                <a16:creationId xmlns:a16="http://schemas.microsoft.com/office/drawing/2014/main" id="{A3E9CBCC-234D-8A32-03E0-6C49DB09314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459" y="2998614"/>
            <a:ext cx="5448935" cy="3345180"/>
          </a:xfrm>
          <a:prstGeom prst="rect">
            <a:avLst/>
          </a:prstGeom>
          <a:noFill/>
          <a:ln>
            <a:noFill/>
          </a:ln>
        </p:spPr>
      </p:pic>
    </p:spTree>
    <p:extLst>
      <p:ext uri="{BB962C8B-B14F-4D97-AF65-F5344CB8AC3E}">
        <p14:creationId xmlns:p14="http://schemas.microsoft.com/office/powerpoint/2010/main" val="2446003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DF74ADB-9A26-75D8-FB23-55561254ADB9}"/>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558" y="315798"/>
            <a:ext cx="5352415" cy="3345180"/>
          </a:xfrm>
          <a:prstGeom prst="rect">
            <a:avLst/>
          </a:prstGeom>
          <a:noFill/>
          <a:ln>
            <a:noFill/>
          </a:ln>
        </p:spPr>
      </p:pic>
      <p:pic>
        <p:nvPicPr>
          <p:cNvPr id="3" name="Picture 2">
            <a:extLst>
              <a:ext uri="{FF2B5EF4-FFF2-40B4-BE49-F238E27FC236}">
                <a16:creationId xmlns:a16="http://schemas.microsoft.com/office/drawing/2014/main" id="{7596AB98-1EAD-12B1-95D7-E6352448CB2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76460" y="3050372"/>
            <a:ext cx="5367020" cy="3345180"/>
          </a:xfrm>
          <a:prstGeom prst="rect">
            <a:avLst/>
          </a:prstGeom>
          <a:noFill/>
          <a:ln>
            <a:noFill/>
          </a:ln>
        </p:spPr>
      </p:pic>
    </p:spTree>
    <p:extLst>
      <p:ext uri="{BB962C8B-B14F-4D97-AF65-F5344CB8AC3E}">
        <p14:creationId xmlns:p14="http://schemas.microsoft.com/office/powerpoint/2010/main" val="173241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6C49-7B93-4711-ABD2-2EC1FF3B9F03}"/>
              </a:ext>
            </a:extLst>
          </p:cNvPr>
          <p:cNvSpPr>
            <a:spLocks noGrp="1"/>
          </p:cNvSpPr>
          <p:nvPr>
            <p:ph type="title"/>
          </p:nvPr>
        </p:nvSpPr>
        <p:spPr>
          <a:xfrm>
            <a:off x="838200" y="365126"/>
            <a:ext cx="10515600" cy="678064"/>
          </a:xfrm>
        </p:spPr>
        <p:txBody>
          <a:bodyPr>
            <a:normAutofit fontScale="90000"/>
          </a:bodyPr>
          <a:lstStyle/>
          <a:p>
            <a:r>
              <a:rPr lang="en-US" b="1" u="sng" dirty="0">
                <a:latin typeface="Times New Roman" panose="02020603050405020304" pitchFamily="18" charset="0"/>
                <a:cs typeface="Times New Roman" panose="02020603050405020304" pitchFamily="18" charset="0"/>
              </a:rPr>
              <a:t>System Organization</a:t>
            </a:r>
          </a:p>
        </p:txBody>
      </p:sp>
      <p:sp>
        <p:nvSpPr>
          <p:cNvPr id="3" name="Content Placeholder 2">
            <a:extLst>
              <a:ext uri="{FF2B5EF4-FFF2-40B4-BE49-F238E27FC236}">
                <a16:creationId xmlns:a16="http://schemas.microsoft.com/office/drawing/2014/main" id="{93E57752-E6ED-4E04-8032-B5B8EE1C4D39}"/>
              </a:ext>
            </a:extLst>
          </p:cNvPr>
          <p:cNvSpPr>
            <a:spLocks noGrp="1"/>
          </p:cNvSpPr>
          <p:nvPr>
            <p:ph idx="1"/>
          </p:nvPr>
        </p:nvSpPr>
        <p:spPr>
          <a:xfrm>
            <a:off x="838200" y="1635617"/>
            <a:ext cx="10515600" cy="3515932"/>
          </a:xfrm>
        </p:spPr>
        <p:txBody>
          <a:bodyPr/>
          <a:lstStyle/>
          <a:p>
            <a:pPr marL="0" marR="0" indent="0">
              <a:lnSpc>
                <a:spcPct val="106000"/>
              </a:lnSpc>
              <a:spcBef>
                <a:spcPts val="0"/>
              </a:spcBef>
              <a:spcAft>
                <a:spcPts val="0"/>
              </a:spcAft>
              <a:buNone/>
            </a:pPr>
            <a:r>
              <a:rPr lang="en-US" sz="1800" b="1" dirty="0">
                <a:effectLst/>
                <a:latin typeface="Times New Roman" panose="02020603050405020304" pitchFamily="18" charset="0"/>
                <a:ea typeface="Times New Roman" panose="02020603050405020304" pitchFamily="18" charset="0"/>
              </a:rPr>
              <a:t>Test</a:t>
            </a:r>
            <a:r>
              <a:rPr lang="en-US" sz="1800" b="1" spc="-20" dirty="0">
                <a:effectLst/>
                <a:latin typeface="Times New Roman" panose="02020603050405020304" pitchFamily="18" charset="0"/>
                <a:ea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rPr>
              <a:t>Schedule</a:t>
            </a:r>
            <a:r>
              <a:rPr lang="en-US" sz="1800" b="1" spc="-5" dirty="0">
                <a:effectLst/>
                <a:latin typeface="Times New Roman" panose="02020603050405020304" pitchFamily="18" charset="0"/>
                <a:ea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rPr>
              <a:t>and</a:t>
            </a:r>
            <a:r>
              <a:rPr lang="en-US" sz="1800" b="1" spc="-10" dirty="0">
                <a:effectLst/>
                <a:latin typeface="Times New Roman" panose="02020603050405020304" pitchFamily="18" charset="0"/>
                <a:ea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rPr>
              <a:t>Milestones:</a:t>
            </a:r>
            <a:endParaRPr lang="en-US" sz="1800" b="1" dirty="0">
              <a:latin typeface="Times New Roman" panose="02020603050405020304" pitchFamily="18" charset="0"/>
              <a:ea typeface="Times New Roman" panose="02020603050405020304" pitchFamily="18" charset="0"/>
            </a:endParaRPr>
          </a:p>
          <a:p>
            <a:pPr marL="0" marR="0" indent="0">
              <a:lnSpc>
                <a:spcPct val="106000"/>
              </a:lnSpc>
              <a:spcBef>
                <a:spcPts val="0"/>
              </a:spcBef>
              <a:spcAft>
                <a:spcPts val="0"/>
              </a:spcAft>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This</a:t>
            </a:r>
            <a:r>
              <a:rPr lang="en-US" sz="1800" spc="8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simply</a:t>
            </a:r>
            <a:r>
              <a:rPr lang="en-US" sz="1800" spc="9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refers</a:t>
            </a:r>
            <a:r>
              <a:rPr lang="en-US" sz="1800" spc="8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to</a:t>
            </a:r>
            <a:r>
              <a:rPr lang="en-US" sz="1800" spc="8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the</a:t>
            </a:r>
            <a:r>
              <a:rPr lang="en-US" sz="1800" spc="8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test</a:t>
            </a:r>
            <a:r>
              <a:rPr lang="en-US" sz="1800" spc="9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plan</a:t>
            </a:r>
            <a:r>
              <a:rPr lang="en-US" sz="1800" spc="8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of</a:t>
            </a:r>
            <a:r>
              <a:rPr lang="en-US" sz="1800" spc="9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the</a:t>
            </a:r>
            <a:r>
              <a:rPr lang="en-US" sz="1800" spc="8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project</a:t>
            </a:r>
            <a:r>
              <a:rPr lang="en-US" sz="1800" spc="8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processes.</a:t>
            </a:r>
            <a:r>
              <a:rPr lang="en-US" sz="1800" spc="8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Comprises</a:t>
            </a:r>
            <a:r>
              <a:rPr lang="en-US" sz="1800" spc="9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a</a:t>
            </a:r>
            <a:r>
              <a:rPr lang="en-US" sz="1800" spc="-38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test</a:t>
            </a:r>
            <a:r>
              <a:rPr lang="en-US" sz="1800" spc="-5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plan</a:t>
            </a:r>
            <a:r>
              <a:rPr lang="en-US" sz="1800" spc="-45"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aligned</a:t>
            </a:r>
            <a:r>
              <a:rPr lang="en-US" sz="1800" spc="-5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in</a:t>
            </a:r>
            <a:r>
              <a:rPr lang="en-US" sz="1800" spc="-4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respect</a:t>
            </a:r>
            <a:r>
              <a:rPr lang="en-US" sz="1800" spc="-4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to</a:t>
            </a:r>
            <a:r>
              <a:rPr lang="en-US" sz="1800" spc="-2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the</a:t>
            </a:r>
            <a:r>
              <a:rPr lang="en-US" sz="1800" spc="-55"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predefined</a:t>
            </a:r>
            <a:r>
              <a:rPr lang="en-US" sz="1800" spc="-4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date</a:t>
            </a:r>
            <a:r>
              <a:rPr lang="en-US" sz="1800" spc="-4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for</a:t>
            </a:r>
            <a:r>
              <a:rPr lang="en-US" sz="1800" spc="-4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project</a:t>
            </a:r>
            <a:r>
              <a:rPr lang="en-US" sz="1800" spc="-50" dirty="0">
                <a:effectLst/>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development.</a:t>
            </a:r>
          </a:p>
          <a:p>
            <a:pPr marL="0" marR="0" indent="0">
              <a:lnSpc>
                <a:spcPct val="106000"/>
              </a:lnSpc>
              <a:spcBef>
                <a:spcPts val="0"/>
              </a:spcBef>
              <a:spcAft>
                <a:spcPts val="0"/>
              </a:spcAft>
              <a:buNone/>
            </a:pPr>
            <a:endParaRPr lang="en-US" sz="1800" dirty="0">
              <a:effectLst/>
              <a:latin typeface="Times New Roman" panose="02020603050405020304" pitchFamily="18" charset="0"/>
              <a:ea typeface="Times New Roman" panose="02020603050405020304" pitchFamily="18" charset="0"/>
            </a:endParaRPr>
          </a:p>
          <a:p>
            <a:pPr marL="0" indent="0">
              <a:buNone/>
            </a:pPr>
            <a:endParaRPr lang="en-US" dirty="0"/>
          </a:p>
        </p:txBody>
      </p:sp>
      <p:pic>
        <p:nvPicPr>
          <p:cNvPr id="6" name="image1.jpeg">
            <a:extLst>
              <a:ext uri="{FF2B5EF4-FFF2-40B4-BE49-F238E27FC236}">
                <a16:creationId xmlns:a16="http://schemas.microsoft.com/office/drawing/2014/main" id="{D8483273-8362-2734-8A79-E1AB0870EA05}"/>
              </a:ext>
            </a:extLst>
          </p:cNvPr>
          <p:cNvPicPr>
            <a:picLocks noChangeAspect="1"/>
          </p:cNvPicPr>
          <p:nvPr/>
        </p:nvPicPr>
        <p:blipFill>
          <a:blip r:embed="rId2" cstate="print"/>
          <a:stretch>
            <a:fillRect/>
          </a:stretch>
        </p:blipFill>
        <p:spPr>
          <a:xfrm>
            <a:off x="4844032" y="2284256"/>
            <a:ext cx="5937250" cy="4465003"/>
          </a:xfrm>
          <a:prstGeom prst="rect">
            <a:avLst/>
          </a:prstGeom>
        </p:spPr>
      </p:pic>
    </p:spTree>
    <p:extLst>
      <p:ext uri="{BB962C8B-B14F-4D97-AF65-F5344CB8AC3E}">
        <p14:creationId xmlns:p14="http://schemas.microsoft.com/office/powerpoint/2010/main" val="31694577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F502F-8A50-49DA-9A25-A0DE0109E419}"/>
              </a:ext>
            </a:extLst>
          </p:cNvPr>
          <p:cNvSpPr>
            <a:spLocks noGrp="1"/>
          </p:cNvSpPr>
          <p:nvPr>
            <p:ph type="title"/>
          </p:nvPr>
        </p:nvSpPr>
        <p:spPr>
          <a:xfrm>
            <a:off x="838200" y="365125"/>
            <a:ext cx="10515600" cy="935641"/>
          </a:xfrm>
        </p:spPr>
        <p:txBody>
          <a:bodyPr/>
          <a:lstStyle/>
          <a:p>
            <a:r>
              <a:rPr lang="en-US" b="1" u="sng" dirty="0">
                <a:latin typeface="Times New Roman" panose="02020603050405020304" pitchFamily="18" charset="0"/>
                <a:cs typeface="Times New Roman" panose="02020603050405020304" pitchFamily="18" charset="0"/>
              </a:rPr>
              <a:t>Test Cases</a:t>
            </a:r>
          </a:p>
        </p:txBody>
      </p:sp>
      <p:graphicFrame>
        <p:nvGraphicFramePr>
          <p:cNvPr id="4" name="Content Placeholder 3">
            <a:extLst>
              <a:ext uri="{FF2B5EF4-FFF2-40B4-BE49-F238E27FC236}">
                <a16:creationId xmlns:a16="http://schemas.microsoft.com/office/drawing/2014/main" id="{2BE6F8B3-BF4F-865A-1DD2-14B822555085}"/>
              </a:ext>
            </a:extLst>
          </p:cNvPr>
          <p:cNvGraphicFramePr>
            <a:graphicFrameLocks noGrp="1"/>
          </p:cNvGraphicFramePr>
          <p:nvPr>
            <p:ph idx="1"/>
            <p:extLst>
              <p:ext uri="{D42A27DB-BD31-4B8C-83A1-F6EECF244321}">
                <p14:modId xmlns:p14="http://schemas.microsoft.com/office/powerpoint/2010/main" val="3865378887"/>
              </p:ext>
            </p:extLst>
          </p:nvPr>
        </p:nvGraphicFramePr>
        <p:xfrm>
          <a:off x="2406770" y="1291135"/>
          <a:ext cx="7021901" cy="4876800"/>
        </p:xfrm>
        <a:graphic>
          <a:graphicData uri="http://schemas.openxmlformats.org/drawingml/2006/table">
            <a:tbl>
              <a:tblPr firstRow="1" firstCol="1" bandRow="1">
                <a:tableStyleId>{5C22544A-7EE6-4342-B048-85BDC9FD1C3A}</a:tableStyleId>
              </a:tblPr>
              <a:tblGrid>
                <a:gridCol w="335207">
                  <a:extLst>
                    <a:ext uri="{9D8B030D-6E8A-4147-A177-3AD203B41FA5}">
                      <a16:colId xmlns:a16="http://schemas.microsoft.com/office/drawing/2014/main" val="2345684042"/>
                    </a:ext>
                  </a:extLst>
                </a:gridCol>
                <a:gridCol w="1132142">
                  <a:extLst>
                    <a:ext uri="{9D8B030D-6E8A-4147-A177-3AD203B41FA5}">
                      <a16:colId xmlns:a16="http://schemas.microsoft.com/office/drawing/2014/main" val="3561305643"/>
                    </a:ext>
                  </a:extLst>
                </a:gridCol>
                <a:gridCol w="1196130">
                  <a:extLst>
                    <a:ext uri="{9D8B030D-6E8A-4147-A177-3AD203B41FA5}">
                      <a16:colId xmlns:a16="http://schemas.microsoft.com/office/drawing/2014/main" val="3427580878"/>
                    </a:ext>
                  </a:extLst>
                </a:gridCol>
                <a:gridCol w="1384457">
                  <a:extLst>
                    <a:ext uri="{9D8B030D-6E8A-4147-A177-3AD203B41FA5}">
                      <a16:colId xmlns:a16="http://schemas.microsoft.com/office/drawing/2014/main" val="436133756"/>
                    </a:ext>
                  </a:extLst>
                </a:gridCol>
                <a:gridCol w="1505162">
                  <a:extLst>
                    <a:ext uri="{9D8B030D-6E8A-4147-A177-3AD203B41FA5}">
                      <a16:colId xmlns:a16="http://schemas.microsoft.com/office/drawing/2014/main" val="2005346818"/>
                    </a:ext>
                  </a:extLst>
                </a:gridCol>
                <a:gridCol w="1468803">
                  <a:extLst>
                    <a:ext uri="{9D8B030D-6E8A-4147-A177-3AD203B41FA5}">
                      <a16:colId xmlns:a16="http://schemas.microsoft.com/office/drawing/2014/main" val="2343262101"/>
                    </a:ext>
                  </a:extLst>
                </a:gridCol>
              </a:tblGrid>
              <a:tr h="467490">
                <a:tc>
                  <a:txBody>
                    <a:bodyPr/>
                    <a:lstStyle/>
                    <a:p>
                      <a:pPr marL="0" marR="0" algn="l">
                        <a:spcBef>
                          <a:spcPts val="0"/>
                        </a:spcBef>
                        <a:spcAft>
                          <a:spcPts val="0"/>
                        </a:spcAft>
                      </a:pPr>
                      <a:r>
                        <a:rPr lang="en-US" sz="1000">
                          <a:effectLst/>
                        </a:rPr>
                        <a:t>ID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Test Case Title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Test Input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Expected Output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Description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Result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2549770374"/>
                  </a:ext>
                </a:extLst>
              </a:tr>
              <a:tr h="600572">
                <a:tc>
                  <a:txBody>
                    <a:bodyPr/>
                    <a:lstStyle/>
                    <a:p>
                      <a:pPr marL="0" marR="0" algn="l">
                        <a:spcBef>
                          <a:spcPts val="0"/>
                        </a:spcBef>
                        <a:spcAft>
                          <a:spcPts val="0"/>
                        </a:spcAft>
                      </a:pPr>
                      <a:r>
                        <a:rPr lang="en-US" sz="1000">
                          <a:effectLst/>
                        </a:rPr>
                        <a:t>1</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Registration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User’s name, email ID, contact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Creates the user and able to login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registration page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950050087"/>
                  </a:ext>
                </a:extLst>
              </a:tr>
              <a:tr h="600572">
                <a:tc>
                  <a:txBody>
                    <a:bodyPr/>
                    <a:lstStyle/>
                    <a:p>
                      <a:pPr marL="0" marR="0" algn="l">
                        <a:spcBef>
                          <a:spcPts val="0"/>
                        </a:spcBef>
                        <a:spcAft>
                          <a:spcPts val="0"/>
                        </a:spcAft>
                      </a:pPr>
                      <a:r>
                        <a:rPr lang="en-US" sz="1000">
                          <a:effectLst/>
                        </a:rPr>
                        <a:t>2</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Authentication of the users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Username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login and navigated to homepage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can login without any issues with his/her login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2162502594"/>
                  </a:ext>
                </a:extLst>
              </a:tr>
              <a:tr h="467490">
                <a:tc>
                  <a:txBody>
                    <a:bodyPr/>
                    <a:lstStyle/>
                    <a:p>
                      <a:pPr marL="0" marR="0" algn="l">
                        <a:spcBef>
                          <a:spcPts val="0"/>
                        </a:spcBef>
                        <a:spcAft>
                          <a:spcPts val="0"/>
                        </a:spcAft>
                      </a:pPr>
                      <a:r>
                        <a:rPr lang="en-US" sz="1000">
                          <a:effectLst/>
                        </a:rPr>
                        <a:t>3</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Validating the user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Login Id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login and Dashboard pops-up</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validate the user entered valid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091265369"/>
                  </a:ext>
                </a:extLst>
              </a:tr>
              <a:tr h="2012711">
                <a:tc>
                  <a:txBody>
                    <a:bodyPr/>
                    <a:lstStyle/>
                    <a:p>
                      <a:pPr marL="0" marR="0" algn="l">
                        <a:spcBef>
                          <a:spcPts val="0"/>
                        </a:spcBef>
                        <a:spcAft>
                          <a:spcPts val="0"/>
                        </a:spcAft>
                      </a:pPr>
                      <a:r>
                        <a:rPr lang="en-US" sz="1000">
                          <a:effectLst/>
                        </a:rPr>
                        <a:t>4</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Dashboard Access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online interface, or page in your website, that displays real-time data as insightful charts and reports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show a comprehensive overview of data from different sources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Users can manage their ticket raised from the Dashboard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53684703"/>
                  </a:ext>
                </a:extLst>
              </a:tr>
              <a:tr h="727965">
                <a:tc>
                  <a:txBody>
                    <a:bodyPr/>
                    <a:lstStyle/>
                    <a:p>
                      <a:pPr marL="0" marR="0" algn="l">
                        <a:spcBef>
                          <a:spcPts val="0"/>
                        </a:spcBef>
                        <a:spcAft>
                          <a:spcPts val="0"/>
                        </a:spcAft>
                      </a:pPr>
                      <a:r>
                        <a:rPr lang="en-US" sz="1000">
                          <a:effectLst/>
                        </a:rPr>
                        <a:t>5</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Create a ticket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Contact, address, event name and charges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ticket raised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create, manage, and maintain a list (or lists) of customer problems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dirty="0">
                          <a:effectLst/>
                        </a:rPr>
                        <a:t>Pass</a:t>
                      </a:r>
                      <a:endParaRPr lang="en-US"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762963415"/>
                  </a:ext>
                </a:extLst>
              </a:tr>
            </a:tbl>
          </a:graphicData>
        </a:graphic>
      </p:graphicFrame>
    </p:spTree>
    <p:extLst>
      <p:ext uri="{BB962C8B-B14F-4D97-AF65-F5344CB8AC3E}">
        <p14:creationId xmlns:p14="http://schemas.microsoft.com/office/powerpoint/2010/main" val="4959414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CAE16-53F8-41A6-A959-B072F64D1500}"/>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Test Cases</a:t>
            </a:r>
            <a:endParaRPr lang="en-US" dirty="0"/>
          </a:p>
        </p:txBody>
      </p:sp>
      <p:graphicFrame>
        <p:nvGraphicFramePr>
          <p:cNvPr id="4" name="Content Placeholder 3">
            <a:extLst>
              <a:ext uri="{FF2B5EF4-FFF2-40B4-BE49-F238E27FC236}">
                <a16:creationId xmlns:a16="http://schemas.microsoft.com/office/drawing/2014/main" id="{489FE01D-8325-6059-9B8F-744591660F41}"/>
              </a:ext>
            </a:extLst>
          </p:cNvPr>
          <p:cNvGraphicFramePr>
            <a:graphicFrameLocks noGrp="1"/>
          </p:cNvGraphicFramePr>
          <p:nvPr>
            <p:ph idx="1"/>
          </p:nvPr>
        </p:nvGraphicFramePr>
        <p:xfrm>
          <a:off x="3029902" y="2995454"/>
          <a:ext cx="6132195" cy="201168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669212364"/>
                    </a:ext>
                  </a:extLst>
                </a:gridCol>
                <a:gridCol w="988695">
                  <a:extLst>
                    <a:ext uri="{9D8B030D-6E8A-4147-A177-3AD203B41FA5}">
                      <a16:colId xmlns:a16="http://schemas.microsoft.com/office/drawing/2014/main" val="3930070224"/>
                    </a:ext>
                  </a:extLst>
                </a:gridCol>
                <a:gridCol w="1044575">
                  <a:extLst>
                    <a:ext uri="{9D8B030D-6E8A-4147-A177-3AD203B41FA5}">
                      <a16:colId xmlns:a16="http://schemas.microsoft.com/office/drawing/2014/main" val="3457845880"/>
                    </a:ext>
                  </a:extLst>
                </a:gridCol>
                <a:gridCol w="1209040">
                  <a:extLst>
                    <a:ext uri="{9D8B030D-6E8A-4147-A177-3AD203B41FA5}">
                      <a16:colId xmlns:a16="http://schemas.microsoft.com/office/drawing/2014/main" val="1182014536"/>
                    </a:ext>
                  </a:extLst>
                </a:gridCol>
                <a:gridCol w="1314450">
                  <a:extLst>
                    <a:ext uri="{9D8B030D-6E8A-4147-A177-3AD203B41FA5}">
                      <a16:colId xmlns:a16="http://schemas.microsoft.com/office/drawing/2014/main" val="4290662808"/>
                    </a:ext>
                  </a:extLst>
                </a:gridCol>
                <a:gridCol w="1282700">
                  <a:extLst>
                    <a:ext uri="{9D8B030D-6E8A-4147-A177-3AD203B41FA5}">
                      <a16:colId xmlns:a16="http://schemas.microsoft.com/office/drawing/2014/main" val="2072711811"/>
                    </a:ext>
                  </a:extLst>
                </a:gridCol>
              </a:tblGrid>
              <a:tr h="521970">
                <a:tc>
                  <a:txBody>
                    <a:bodyPr/>
                    <a:lstStyle/>
                    <a:p>
                      <a:pPr marL="0" marR="0" algn="l">
                        <a:spcBef>
                          <a:spcPts val="0"/>
                        </a:spcBef>
                        <a:spcAft>
                          <a:spcPts val="0"/>
                        </a:spcAft>
                      </a:pPr>
                      <a:r>
                        <a:rPr lang="en-US" sz="1100">
                          <a:effectLst/>
                        </a:rPr>
                        <a:t>6</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Managing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Solve the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provide a solution for customers problems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350443761"/>
                  </a:ext>
                </a:extLst>
              </a:tr>
              <a:tr h="521970">
                <a:tc>
                  <a:txBody>
                    <a:bodyPr/>
                    <a:lstStyle/>
                    <a:p>
                      <a:pPr marL="0" marR="0" algn="l">
                        <a:spcBef>
                          <a:spcPts val="0"/>
                        </a:spcBef>
                        <a:spcAft>
                          <a:spcPts val="0"/>
                        </a:spcAft>
                      </a:pPr>
                      <a:r>
                        <a:rPr lang="en-US" sz="1100">
                          <a:effectLst/>
                        </a:rPr>
                        <a:t>7</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Event creation in the system</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describe the type of ticket raised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This allows us to understand which type of ticket is raised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15928370"/>
                  </a:ext>
                </a:extLst>
              </a:tr>
              <a:tr h="521970">
                <a:tc>
                  <a:txBody>
                    <a:bodyPr/>
                    <a:lstStyle/>
                    <a:p>
                      <a:pPr marL="0" marR="0" algn="l">
                        <a:spcBef>
                          <a:spcPts val="0"/>
                        </a:spcBef>
                        <a:spcAft>
                          <a:spcPts val="0"/>
                        </a:spcAft>
                      </a:pPr>
                      <a:r>
                        <a:rPr lang="en-US" sz="1100">
                          <a:effectLst/>
                        </a:rPr>
                        <a:t>8</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events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creation of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 for frequently raised tickets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dirty="0">
                          <a:effectLst/>
                        </a:rPr>
                        <a:t>Fail</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4340226"/>
                  </a:ext>
                </a:extLst>
              </a:tr>
            </a:tbl>
          </a:graphicData>
        </a:graphic>
      </p:graphicFrame>
    </p:spTree>
    <p:extLst>
      <p:ext uri="{BB962C8B-B14F-4D97-AF65-F5344CB8AC3E}">
        <p14:creationId xmlns:p14="http://schemas.microsoft.com/office/powerpoint/2010/main" val="35021244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AC6B1-A153-58A4-9366-5EEE6CF37B8B}"/>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Test Cases</a:t>
            </a:r>
            <a:endParaRPr lang="en-US" dirty="0"/>
          </a:p>
        </p:txBody>
      </p:sp>
      <p:graphicFrame>
        <p:nvGraphicFramePr>
          <p:cNvPr id="13" name="Content Placeholder 12">
            <a:extLst>
              <a:ext uri="{FF2B5EF4-FFF2-40B4-BE49-F238E27FC236}">
                <a16:creationId xmlns:a16="http://schemas.microsoft.com/office/drawing/2014/main" id="{203B2657-B4A3-AA72-874E-301604BDA225}"/>
              </a:ext>
            </a:extLst>
          </p:cNvPr>
          <p:cNvGraphicFramePr>
            <a:graphicFrameLocks noGrp="1"/>
          </p:cNvGraphicFramePr>
          <p:nvPr>
            <p:ph idx="1"/>
          </p:nvPr>
        </p:nvGraphicFramePr>
        <p:xfrm>
          <a:off x="3029902" y="2995454"/>
          <a:ext cx="6132195" cy="201168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3883293718"/>
                    </a:ext>
                  </a:extLst>
                </a:gridCol>
                <a:gridCol w="988695">
                  <a:extLst>
                    <a:ext uri="{9D8B030D-6E8A-4147-A177-3AD203B41FA5}">
                      <a16:colId xmlns:a16="http://schemas.microsoft.com/office/drawing/2014/main" val="3027552390"/>
                    </a:ext>
                  </a:extLst>
                </a:gridCol>
                <a:gridCol w="1044575">
                  <a:extLst>
                    <a:ext uri="{9D8B030D-6E8A-4147-A177-3AD203B41FA5}">
                      <a16:colId xmlns:a16="http://schemas.microsoft.com/office/drawing/2014/main" val="3203736379"/>
                    </a:ext>
                  </a:extLst>
                </a:gridCol>
                <a:gridCol w="1209040">
                  <a:extLst>
                    <a:ext uri="{9D8B030D-6E8A-4147-A177-3AD203B41FA5}">
                      <a16:colId xmlns:a16="http://schemas.microsoft.com/office/drawing/2014/main" val="4168781068"/>
                    </a:ext>
                  </a:extLst>
                </a:gridCol>
                <a:gridCol w="1314450">
                  <a:extLst>
                    <a:ext uri="{9D8B030D-6E8A-4147-A177-3AD203B41FA5}">
                      <a16:colId xmlns:a16="http://schemas.microsoft.com/office/drawing/2014/main" val="3439389301"/>
                    </a:ext>
                  </a:extLst>
                </a:gridCol>
                <a:gridCol w="1282700">
                  <a:extLst>
                    <a:ext uri="{9D8B030D-6E8A-4147-A177-3AD203B41FA5}">
                      <a16:colId xmlns:a16="http://schemas.microsoft.com/office/drawing/2014/main" val="1238204734"/>
                    </a:ext>
                  </a:extLst>
                </a:gridCol>
              </a:tblGrid>
              <a:tr h="521970">
                <a:tc>
                  <a:txBody>
                    <a:bodyPr/>
                    <a:lstStyle/>
                    <a:p>
                      <a:pPr marL="0" marR="0" algn="l">
                        <a:spcBef>
                          <a:spcPts val="0"/>
                        </a:spcBef>
                        <a:spcAft>
                          <a:spcPts val="0"/>
                        </a:spcAft>
                      </a:pPr>
                      <a:r>
                        <a:rPr lang="en-US" sz="1100">
                          <a:effectLst/>
                        </a:rPr>
                        <a:t>6</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Managing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Solve the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provide a solution for customers problems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11054704"/>
                  </a:ext>
                </a:extLst>
              </a:tr>
              <a:tr h="521970">
                <a:tc>
                  <a:txBody>
                    <a:bodyPr/>
                    <a:lstStyle/>
                    <a:p>
                      <a:pPr marL="0" marR="0" algn="l">
                        <a:spcBef>
                          <a:spcPts val="0"/>
                        </a:spcBef>
                        <a:spcAft>
                          <a:spcPts val="0"/>
                        </a:spcAft>
                      </a:pPr>
                      <a:r>
                        <a:rPr lang="en-US" sz="1100">
                          <a:effectLst/>
                        </a:rPr>
                        <a:t>7</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Event creation in the system</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describe the type of ticket raised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This allows us to understand which type of ticket is raised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46163230"/>
                  </a:ext>
                </a:extLst>
              </a:tr>
              <a:tr h="521970">
                <a:tc>
                  <a:txBody>
                    <a:bodyPr/>
                    <a:lstStyle/>
                    <a:p>
                      <a:pPr marL="0" marR="0" algn="l">
                        <a:spcBef>
                          <a:spcPts val="0"/>
                        </a:spcBef>
                        <a:spcAft>
                          <a:spcPts val="0"/>
                        </a:spcAft>
                      </a:pPr>
                      <a:r>
                        <a:rPr lang="en-US" sz="1100">
                          <a:effectLst/>
                        </a:rPr>
                        <a:t>8</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events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creation of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 for frequently raised tickets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Fail</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4748147"/>
                  </a:ext>
                </a:extLst>
              </a:tr>
            </a:tbl>
          </a:graphicData>
        </a:graphic>
      </p:graphicFrame>
      <p:graphicFrame>
        <p:nvGraphicFramePr>
          <p:cNvPr id="14" name="Table 13">
            <a:extLst>
              <a:ext uri="{FF2B5EF4-FFF2-40B4-BE49-F238E27FC236}">
                <a16:creationId xmlns:a16="http://schemas.microsoft.com/office/drawing/2014/main" id="{8B557D80-5BC0-D36F-EFEB-F082790E989A}"/>
              </a:ext>
            </a:extLst>
          </p:cNvPr>
          <p:cNvGraphicFramePr>
            <a:graphicFrameLocks noGrp="1"/>
          </p:cNvGraphicFramePr>
          <p:nvPr/>
        </p:nvGraphicFramePr>
        <p:xfrm>
          <a:off x="3029902" y="2473484"/>
          <a:ext cx="6132195" cy="305562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1928721444"/>
                    </a:ext>
                  </a:extLst>
                </a:gridCol>
                <a:gridCol w="988695">
                  <a:extLst>
                    <a:ext uri="{9D8B030D-6E8A-4147-A177-3AD203B41FA5}">
                      <a16:colId xmlns:a16="http://schemas.microsoft.com/office/drawing/2014/main" val="3830349898"/>
                    </a:ext>
                  </a:extLst>
                </a:gridCol>
                <a:gridCol w="1044575">
                  <a:extLst>
                    <a:ext uri="{9D8B030D-6E8A-4147-A177-3AD203B41FA5}">
                      <a16:colId xmlns:a16="http://schemas.microsoft.com/office/drawing/2014/main" val="3688808048"/>
                    </a:ext>
                  </a:extLst>
                </a:gridCol>
                <a:gridCol w="1209040">
                  <a:extLst>
                    <a:ext uri="{9D8B030D-6E8A-4147-A177-3AD203B41FA5}">
                      <a16:colId xmlns:a16="http://schemas.microsoft.com/office/drawing/2014/main" val="2985236135"/>
                    </a:ext>
                  </a:extLst>
                </a:gridCol>
                <a:gridCol w="1314450">
                  <a:extLst>
                    <a:ext uri="{9D8B030D-6E8A-4147-A177-3AD203B41FA5}">
                      <a16:colId xmlns:a16="http://schemas.microsoft.com/office/drawing/2014/main" val="3945695081"/>
                    </a:ext>
                  </a:extLst>
                </a:gridCol>
                <a:gridCol w="1282700">
                  <a:extLst>
                    <a:ext uri="{9D8B030D-6E8A-4147-A177-3AD203B41FA5}">
                      <a16:colId xmlns:a16="http://schemas.microsoft.com/office/drawing/2014/main" val="3594107494"/>
                    </a:ext>
                  </a:extLst>
                </a:gridCol>
              </a:tblGrid>
              <a:tr h="521970">
                <a:tc>
                  <a:txBody>
                    <a:bodyPr/>
                    <a:lstStyle/>
                    <a:p>
                      <a:pPr marL="0" marR="0" algn="l">
                        <a:spcBef>
                          <a:spcPts val="0"/>
                        </a:spcBef>
                        <a:spcAft>
                          <a:spcPts val="0"/>
                        </a:spcAft>
                      </a:pPr>
                      <a:r>
                        <a:rPr lang="en-US" sz="1100">
                          <a:effectLst/>
                        </a:rPr>
                        <a:t>ID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Test Case Title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Test Input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Expected Output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Description</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Result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877053782"/>
                  </a:ext>
                </a:extLst>
              </a:tr>
              <a:tr h="521970">
                <a:tc>
                  <a:txBody>
                    <a:bodyPr/>
                    <a:lstStyle/>
                    <a:p>
                      <a:pPr marL="0" marR="0" algn="l">
                        <a:spcBef>
                          <a:spcPts val="0"/>
                        </a:spcBef>
                        <a:spcAft>
                          <a:spcPts val="0"/>
                        </a:spcAft>
                      </a:pPr>
                      <a:r>
                        <a:rPr lang="en-US" sz="1100">
                          <a:effectLst/>
                        </a:rPr>
                        <a:t>9</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Create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Required clients’ details name, address, contact info</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registration of client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Create more clients for improved developments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66882287"/>
                  </a:ext>
                </a:extLst>
              </a:tr>
              <a:tr h="521970">
                <a:tc>
                  <a:txBody>
                    <a:bodyPr/>
                    <a:lstStyle/>
                    <a:p>
                      <a:pPr marL="0" marR="0" algn="l">
                        <a:spcBef>
                          <a:spcPts val="0"/>
                        </a:spcBef>
                        <a:spcAft>
                          <a:spcPts val="0"/>
                        </a:spcAft>
                      </a:pPr>
                      <a:r>
                        <a:rPr lang="en-US" sz="1100">
                          <a:effectLst/>
                        </a:rPr>
                        <a:t>10</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the created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the created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Fail</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3261720"/>
                  </a:ext>
                </a:extLst>
              </a:tr>
              <a:tr h="521970">
                <a:tc>
                  <a:txBody>
                    <a:bodyPr/>
                    <a:lstStyle/>
                    <a:p>
                      <a:pPr marL="0" marR="0" algn="l">
                        <a:spcBef>
                          <a:spcPts val="0"/>
                        </a:spcBef>
                        <a:spcAft>
                          <a:spcPts val="0"/>
                        </a:spcAft>
                      </a:pPr>
                      <a:r>
                        <a:rPr lang="en-US" sz="1100">
                          <a:effectLst/>
                        </a:rPr>
                        <a:t>11</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User management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user Grant Authentication type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Grant Authentication type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590469942"/>
                  </a:ext>
                </a:extLst>
              </a:tr>
              <a:tr h="521970">
                <a:tc>
                  <a:txBody>
                    <a:bodyPr/>
                    <a:lstStyle/>
                    <a:p>
                      <a:pPr marL="0" marR="0" algn="l">
                        <a:spcBef>
                          <a:spcPts val="0"/>
                        </a:spcBef>
                        <a:spcAft>
                          <a:spcPts val="0"/>
                        </a:spcAft>
                      </a:pPr>
                      <a:r>
                        <a:rPr lang="en-US" sz="1100">
                          <a:effectLst/>
                        </a:rPr>
                        <a:t>12</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Settings tab</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Login Id and Password of user</a:t>
                      </a:r>
                      <a:endParaRPr lang="en-US"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Pops-up the settings page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Allows to edit the user credentials and details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dirty="0">
                          <a:effectLst/>
                        </a:rPr>
                        <a:t>Fail</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51137797"/>
                  </a:ext>
                </a:extLst>
              </a:tr>
            </a:tbl>
          </a:graphicData>
        </a:graphic>
      </p:graphicFrame>
      <p:sp>
        <p:nvSpPr>
          <p:cNvPr id="15" name="Rectangle 2">
            <a:extLst>
              <a:ext uri="{FF2B5EF4-FFF2-40B4-BE49-F238E27FC236}">
                <a16:creationId xmlns:a16="http://schemas.microsoft.com/office/drawing/2014/main" id="{B9C4F11C-62FC-94A4-7430-2E4CF961D714}"/>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17829659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4BCD1-F19D-657E-FECA-E21921A46AD2}"/>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Summary</a:t>
            </a:r>
          </a:p>
        </p:txBody>
      </p:sp>
      <p:sp>
        <p:nvSpPr>
          <p:cNvPr id="3" name="Content Placeholder 2">
            <a:extLst>
              <a:ext uri="{FF2B5EF4-FFF2-40B4-BE49-F238E27FC236}">
                <a16:creationId xmlns:a16="http://schemas.microsoft.com/office/drawing/2014/main" id="{5D0BE23E-84B9-93A4-F70C-B735551D8528}"/>
              </a:ext>
            </a:extLst>
          </p:cNvPr>
          <p:cNvSpPr>
            <a:spLocks noGrp="1"/>
          </p:cNvSpPr>
          <p:nvPr>
            <p:ph idx="1"/>
          </p:nvPr>
        </p:nvSpPr>
        <p:spPr/>
        <p:txBody>
          <a:bodyPr>
            <a:normAutofit/>
          </a:bodyPr>
          <a:lstStyle/>
          <a:p>
            <a:pPr marL="0" indent="0">
              <a:buNone/>
            </a:pPr>
            <a:r>
              <a:rPr lang="en-US" sz="2000" dirty="0">
                <a:latin typeface="Times New Roman" panose="02020603050405020304" pitchFamily="18" charset="0"/>
                <a:cs typeface="Times New Roman" panose="02020603050405020304" pitchFamily="18" charset="0"/>
              </a:rPr>
              <a:t>A ticketing management system helps you locate issues, analyze them further, and pinpoint the underlying causes of issues that could impair the efficiency of your firm.</a:t>
            </a:r>
          </a:p>
          <a:p>
            <a:pPr marL="0" indent="0">
              <a:buNone/>
            </a:pPr>
            <a:r>
              <a:rPr lang="en-US" sz="2000" dirty="0">
                <a:latin typeface="Times New Roman" panose="02020603050405020304" pitchFamily="18" charset="0"/>
                <a:cs typeface="Times New Roman" panose="02020603050405020304" pitchFamily="18" charset="0"/>
              </a:rPr>
              <a:t>The system makes it possible to consistently record and manage requests, which frees up authorities to focus more on resolving problems.</a:t>
            </a:r>
          </a:p>
          <a:p>
            <a:pPr marL="0" indent="0">
              <a:buNone/>
            </a:pPr>
            <a:r>
              <a:rPr lang="en-US" sz="2000" dirty="0">
                <a:latin typeface="Times New Roman" panose="02020603050405020304" pitchFamily="18" charset="0"/>
                <a:cs typeface="Times New Roman" panose="02020603050405020304" pitchFamily="18" charset="0"/>
              </a:rPr>
              <a:t>An incident management system enables efficient scaling of issues and their handoff between teams.</a:t>
            </a:r>
          </a:p>
          <a:p>
            <a:pPr marL="0" indent="0">
              <a:buNone/>
            </a:pPr>
            <a:r>
              <a:rPr lang="en-US" sz="2000" dirty="0">
                <a:latin typeface="Times New Roman" panose="02020603050405020304" pitchFamily="18" charset="0"/>
                <a:cs typeface="Times New Roman" panose="02020603050405020304" pitchFamily="18" charset="0"/>
              </a:rPr>
              <a:t>The management must make decisions about efficiency, process improvement, and operational cost management using the data and metrics produced by the ticketing management system.</a:t>
            </a:r>
          </a:p>
        </p:txBody>
      </p:sp>
    </p:spTree>
    <p:extLst>
      <p:ext uri="{BB962C8B-B14F-4D97-AF65-F5344CB8AC3E}">
        <p14:creationId xmlns:p14="http://schemas.microsoft.com/office/powerpoint/2010/main" val="15709526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700</TotalTime>
  <Words>2065</Words>
  <Application>Microsoft Office PowerPoint</Application>
  <PresentationFormat>Widescreen</PresentationFormat>
  <Paragraphs>230</Paragraphs>
  <Slides>33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Calibri Light</vt:lpstr>
      <vt:lpstr>Times</vt:lpstr>
      <vt:lpstr>Times New Roman</vt:lpstr>
      <vt:lpstr>Office Theme</vt:lpstr>
      <vt:lpstr>Ticketing Software</vt:lpstr>
      <vt:lpstr>Glossary</vt:lpstr>
      <vt:lpstr>Introduction</vt:lpstr>
      <vt:lpstr>Introduction(Cont…)</vt:lpstr>
      <vt:lpstr>Tools and Technologies</vt:lpstr>
      <vt:lpstr>Tools and Technologies(Cont…)</vt:lpstr>
      <vt:lpstr>Development Process</vt:lpstr>
      <vt:lpstr>Conceptualization</vt:lpstr>
      <vt:lpstr>Functional Requirements</vt:lpstr>
      <vt:lpstr>Functional Requirements</vt:lpstr>
      <vt:lpstr>Functional Requirements(Cont…)</vt:lpstr>
      <vt:lpstr>Functional Requirements(Cont…)</vt:lpstr>
      <vt:lpstr>Design</vt:lpstr>
      <vt:lpstr>Data design and Database description</vt:lpstr>
      <vt:lpstr>PowerPoint Presentation</vt:lpstr>
      <vt:lpstr>PowerPoint Presentation</vt:lpstr>
      <vt:lpstr>Data structures</vt:lpstr>
      <vt:lpstr>PowerPoint Presentation</vt:lpstr>
      <vt:lpstr>Architectural and component-level design</vt:lpstr>
      <vt:lpstr>PowerPoint Presentation</vt:lpstr>
      <vt:lpstr>Ready Prototype System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System Organization</vt:lpstr>
      <vt:lpstr>Test Cases</vt:lpstr>
      <vt:lpstr>Test Cases</vt:lpstr>
      <vt:lpstr>Test Cases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Ticketing Software</dc:title>
  <dc:creator>Bernard Kung'u</dc:creator>
  <cp:lastModifiedBy>Jashwanth Yarrarapu</cp:lastModifiedBy>
  <cp:revision>13</cp:revision>
  <dcterms:created xsi:type="dcterms:W3CDTF">2022-10-09T11:12:35Z</dcterms:created>
  <dcterms:modified xsi:type="dcterms:W3CDTF">2022-11-28T22:45:53Z</dcterms:modified>
</cp:coreProperties>
</file>