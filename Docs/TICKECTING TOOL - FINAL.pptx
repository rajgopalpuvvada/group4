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7" r:id="rId5"/>
    <p:sldId id="268" r:id="rId6"/>
    <p:sldId id="269" r:id="rId7"/>
    <p:sldId id="259" r:id="rId8"/>
    <p:sldId id="260" r:id="rId9"/>
    <p:sldId id="270" r:id="rId10"/>
    <p:sldId id="271" r:id="rId11"/>
    <p:sldId id="272" r:id="rId12"/>
    <p:sldId id="273" r:id="rId13"/>
    <p:sldId id="261" r:id="rId14"/>
    <p:sldId id="274" r:id="rId15"/>
    <p:sldId id="275" r:id="rId16"/>
    <p:sldId id="276" r:id="rId17"/>
    <p:sldId id="277" r:id="rId18"/>
    <p:sldId id="278" r:id="rId19"/>
    <p:sldId id="279" r:id="rId20"/>
    <p:sldId id="280" r:id="rId21"/>
    <p:sldId id="285" r:id="rId22"/>
    <p:sldId id="266" r:id="rId23"/>
    <p:sldId id="286" r:id="rId24"/>
    <p:sldId id="287" r:id="rId25"/>
    <p:sldId id="262" r:id="rId26"/>
    <p:sldId id="263" r:id="rId27"/>
    <p:sldId id="264" r:id="rId28"/>
    <p:sldId id="288" r:id="rId29"/>
    <p:sldId id="281" r:id="rId30"/>
    <p:sldId id="282" r:id="rId31"/>
    <p:sldId id="283" r:id="rId32"/>
    <p:sldId id="28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7A0B3A-6AA3-404A-80FD-4B9C382BDBAD}" v="7" dt="2022-12-05T17:42:36.9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hwanth Yarrarapu" userId="b3ff432d20d323d4" providerId="LiveId" clId="{3E7A0B3A-6AA3-404A-80FD-4B9C382BDBAD}"/>
    <pc:docChg chg="undo custSel modSld sldOrd">
      <pc:chgData name="Jashwanth Yarrarapu" userId="b3ff432d20d323d4" providerId="LiveId" clId="{3E7A0B3A-6AA3-404A-80FD-4B9C382BDBAD}" dt="2022-12-05T19:08:24.451" v="236" actId="20577"/>
      <pc:docMkLst>
        <pc:docMk/>
      </pc:docMkLst>
      <pc:sldChg chg="modSp mod">
        <pc:chgData name="Jashwanth Yarrarapu" userId="b3ff432d20d323d4" providerId="LiveId" clId="{3E7A0B3A-6AA3-404A-80FD-4B9C382BDBAD}" dt="2022-12-05T18:38:23.810" v="170" actId="20577"/>
        <pc:sldMkLst>
          <pc:docMk/>
          <pc:sldMk cId="3290298617" sldId="257"/>
        </pc:sldMkLst>
        <pc:spChg chg="mod">
          <ac:chgData name="Jashwanth Yarrarapu" userId="b3ff432d20d323d4" providerId="LiveId" clId="{3E7A0B3A-6AA3-404A-80FD-4B9C382BDBAD}" dt="2022-12-05T18:38:23.810" v="170" actId="20577"/>
          <ac:spMkLst>
            <pc:docMk/>
            <pc:sldMk cId="3290298617" sldId="257"/>
            <ac:spMk id="2" creationId="{86913E69-31E9-47BA-A534-FB8072F69F02}"/>
          </ac:spMkLst>
        </pc:spChg>
        <pc:spChg chg="mod">
          <ac:chgData name="Jashwanth Yarrarapu" userId="b3ff432d20d323d4" providerId="LiveId" clId="{3E7A0B3A-6AA3-404A-80FD-4B9C382BDBAD}" dt="2022-12-05T18:38:08.281" v="136" actId="20577"/>
          <ac:spMkLst>
            <pc:docMk/>
            <pc:sldMk cId="3290298617" sldId="257"/>
            <ac:spMk id="3" creationId="{216835BA-B28E-491F-A027-84042747CA8A}"/>
          </ac:spMkLst>
        </pc:spChg>
      </pc:sldChg>
      <pc:sldChg chg="addSp delSp modSp mod">
        <pc:chgData name="Jashwanth Yarrarapu" userId="b3ff432d20d323d4" providerId="LiveId" clId="{3E7A0B3A-6AA3-404A-80FD-4B9C382BDBAD}" dt="2022-12-05T17:42:01.430" v="20"/>
        <pc:sldMkLst>
          <pc:docMk/>
          <pc:sldMk cId="4106739811" sldId="262"/>
        </pc:sldMkLst>
        <pc:picChg chg="add mod">
          <ac:chgData name="Jashwanth Yarrarapu" userId="b3ff432d20d323d4" providerId="LiveId" clId="{3E7A0B3A-6AA3-404A-80FD-4B9C382BDBAD}" dt="2022-12-05T17:42:01.430" v="20"/>
          <ac:picMkLst>
            <pc:docMk/>
            <pc:sldMk cId="4106739811" sldId="262"/>
            <ac:picMk id="3" creationId="{AFEC9B66-8D6C-9F44-67FE-C2181F6CFFE2}"/>
          </ac:picMkLst>
        </pc:picChg>
        <pc:picChg chg="del">
          <ac:chgData name="Jashwanth Yarrarapu" userId="b3ff432d20d323d4" providerId="LiveId" clId="{3E7A0B3A-6AA3-404A-80FD-4B9C382BDBAD}" dt="2022-12-05T17:42:00.376" v="19" actId="478"/>
          <ac:picMkLst>
            <pc:docMk/>
            <pc:sldMk cId="4106739811" sldId="262"/>
            <ac:picMk id="7" creationId="{54BC0266-3F2C-2467-1B47-FD3F5637B3D2}"/>
          </ac:picMkLst>
        </pc:picChg>
      </pc:sldChg>
      <pc:sldChg chg="addSp delSp modSp mod">
        <pc:chgData name="Jashwanth Yarrarapu" userId="b3ff432d20d323d4" providerId="LiveId" clId="{3E7A0B3A-6AA3-404A-80FD-4B9C382BDBAD}" dt="2022-12-05T17:42:51.096" v="27" actId="14100"/>
        <pc:sldMkLst>
          <pc:docMk/>
          <pc:sldMk cId="1561182114" sldId="264"/>
        </pc:sldMkLst>
        <pc:spChg chg="add mod">
          <ac:chgData name="Jashwanth Yarrarapu" userId="b3ff432d20d323d4" providerId="LiveId" clId="{3E7A0B3A-6AA3-404A-80FD-4B9C382BDBAD}" dt="2022-12-05T17:42:26.093" v="21" actId="478"/>
          <ac:spMkLst>
            <pc:docMk/>
            <pc:sldMk cId="1561182114" sldId="264"/>
            <ac:spMk id="3" creationId="{A66DBD9F-A10D-5458-5942-B08C97D8E4C6}"/>
          </ac:spMkLst>
        </pc:spChg>
        <pc:picChg chg="add mod">
          <ac:chgData name="Jashwanth Yarrarapu" userId="b3ff432d20d323d4" providerId="LiveId" clId="{3E7A0B3A-6AA3-404A-80FD-4B9C382BDBAD}" dt="2022-12-05T17:42:51.096" v="27" actId="14100"/>
          <ac:picMkLst>
            <pc:docMk/>
            <pc:sldMk cId="1561182114" sldId="264"/>
            <ac:picMk id="4" creationId="{7513005A-01E3-0E56-688E-DB46341F2DAF}"/>
          </ac:picMkLst>
        </pc:picChg>
        <pc:picChg chg="del">
          <ac:chgData name="Jashwanth Yarrarapu" userId="b3ff432d20d323d4" providerId="LiveId" clId="{3E7A0B3A-6AA3-404A-80FD-4B9C382BDBAD}" dt="2022-12-05T17:42:26.093" v="21" actId="478"/>
          <ac:picMkLst>
            <pc:docMk/>
            <pc:sldMk cId="1561182114" sldId="264"/>
            <ac:picMk id="5" creationId="{BBF192DB-B2B1-449C-B355-BD6CD3D6E9A1}"/>
          </ac:picMkLst>
        </pc:picChg>
      </pc:sldChg>
      <pc:sldChg chg="ord">
        <pc:chgData name="Jashwanth Yarrarapu" userId="b3ff432d20d323d4" providerId="LiveId" clId="{3E7A0B3A-6AA3-404A-80FD-4B9C382BDBAD}" dt="2022-12-05T17:44:27.489" v="33"/>
        <pc:sldMkLst>
          <pc:docMk/>
          <pc:sldMk cId="495941491" sldId="266"/>
        </pc:sldMkLst>
      </pc:sldChg>
      <pc:sldChg chg="addSp delSp modSp mod">
        <pc:chgData name="Jashwanth Yarrarapu" userId="b3ff432d20d323d4" providerId="LiveId" clId="{3E7A0B3A-6AA3-404A-80FD-4B9C382BDBAD}" dt="2022-12-05T17:39:18.477" v="2" actId="1076"/>
        <pc:sldMkLst>
          <pc:docMk/>
          <pc:sldMk cId="2570610942" sldId="274"/>
        </pc:sldMkLst>
        <pc:picChg chg="add mod">
          <ac:chgData name="Jashwanth Yarrarapu" userId="b3ff432d20d323d4" providerId="LiveId" clId="{3E7A0B3A-6AA3-404A-80FD-4B9C382BDBAD}" dt="2022-12-05T17:39:18.477" v="2" actId="1076"/>
          <ac:picMkLst>
            <pc:docMk/>
            <pc:sldMk cId="2570610942" sldId="274"/>
            <ac:picMk id="4" creationId="{1FE7B47B-45CA-BE27-40B3-9C48CDB0A71E}"/>
          </ac:picMkLst>
        </pc:picChg>
        <pc:picChg chg="del">
          <ac:chgData name="Jashwanth Yarrarapu" userId="b3ff432d20d323d4" providerId="LiveId" clId="{3E7A0B3A-6AA3-404A-80FD-4B9C382BDBAD}" dt="2022-12-05T17:38:54.992" v="0" actId="478"/>
          <ac:picMkLst>
            <pc:docMk/>
            <pc:sldMk cId="2570610942" sldId="274"/>
            <ac:picMk id="16" creationId="{8CE6016D-89EF-E901-0042-98D0B017BE5C}"/>
          </ac:picMkLst>
        </pc:picChg>
      </pc:sldChg>
      <pc:sldChg chg="addSp delSp modSp mod">
        <pc:chgData name="Jashwanth Yarrarapu" userId="b3ff432d20d323d4" providerId="LiveId" clId="{3E7A0B3A-6AA3-404A-80FD-4B9C382BDBAD}" dt="2022-12-05T17:39:51.825" v="8" actId="1076"/>
        <pc:sldMkLst>
          <pc:docMk/>
          <pc:sldMk cId="437126902" sldId="275"/>
        </pc:sldMkLst>
        <pc:picChg chg="add mod">
          <ac:chgData name="Jashwanth Yarrarapu" userId="b3ff432d20d323d4" providerId="LiveId" clId="{3E7A0B3A-6AA3-404A-80FD-4B9C382BDBAD}" dt="2022-12-05T17:39:36.866" v="5" actId="1076"/>
          <ac:picMkLst>
            <pc:docMk/>
            <pc:sldMk cId="437126902" sldId="275"/>
            <ac:picMk id="2" creationId="{9ECED727-57C9-FE1E-7FF7-DC1EAA258E71}"/>
          </ac:picMkLst>
        </pc:picChg>
        <pc:picChg chg="add mod">
          <ac:chgData name="Jashwanth Yarrarapu" userId="b3ff432d20d323d4" providerId="LiveId" clId="{3E7A0B3A-6AA3-404A-80FD-4B9C382BDBAD}" dt="2022-12-05T17:39:51.825" v="8" actId="1076"/>
          <ac:picMkLst>
            <pc:docMk/>
            <pc:sldMk cId="437126902" sldId="275"/>
            <ac:picMk id="3" creationId="{EFE420E7-87C0-58CF-85A0-C0C73043598F}"/>
          </ac:picMkLst>
        </pc:picChg>
        <pc:picChg chg="del">
          <ac:chgData name="Jashwanth Yarrarapu" userId="b3ff432d20d323d4" providerId="LiveId" clId="{3E7A0B3A-6AA3-404A-80FD-4B9C382BDBAD}" dt="2022-12-05T17:39:32.747" v="3" actId="478"/>
          <ac:picMkLst>
            <pc:docMk/>
            <pc:sldMk cId="437126902" sldId="275"/>
            <ac:picMk id="23" creationId="{75912C1F-ECEC-146D-4696-2905BD6321EF}"/>
          </ac:picMkLst>
        </pc:picChg>
        <pc:picChg chg="del">
          <ac:chgData name="Jashwanth Yarrarapu" userId="b3ff432d20d323d4" providerId="LiveId" clId="{3E7A0B3A-6AA3-404A-80FD-4B9C382BDBAD}" dt="2022-12-05T17:39:47.770" v="6" actId="478"/>
          <ac:picMkLst>
            <pc:docMk/>
            <pc:sldMk cId="437126902" sldId="275"/>
            <ac:picMk id="24" creationId="{1BBE37C0-1ED1-3A5A-4FC8-233AD088424E}"/>
          </ac:picMkLst>
        </pc:picChg>
      </pc:sldChg>
      <pc:sldChg chg="addSp delSp modSp mod">
        <pc:chgData name="Jashwanth Yarrarapu" userId="b3ff432d20d323d4" providerId="LiveId" clId="{3E7A0B3A-6AA3-404A-80FD-4B9C382BDBAD}" dt="2022-12-05T17:40:29.251" v="13" actId="14100"/>
        <pc:sldMkLst>
          <pc:docMk/>
          <pc:sldMk cId="2078977900" sldId="276"/>
        </pc:sldMkLst>
        <pc:spChg chg="add mod">
          <ac:chgData name="Jashwanth Yarrarapu" userId="b3ff432d20d323d4" providerId="LiveId" clId="{3E7A0B3A-6AA3-404A-80FD-4B9C382BDBAD}" dt="2022-12-05T17:40:20.580" v="9" actId="478"/>
          <ac:spMkLst>
            <pc:docMk/>
            <pc:sldMk cId="2078977900" sldId="276"/>
            <ac:spMk id="3" creationId="{4E8782FF-EF84-EEE1-4E0E-D9A88C92EA46}"/>
          </ac:spMkLst>
        </pc:spChg>
        <pc:picChg chg="add mod">
          <ac:chgData name="Jashwanth Yarrarapu" userId="b3ff432d20d323d4" providerId="LiveId" clId="{3E7A0B3A-6AA3-404A-80FD-4B9C382BDBAD}" dt="2022-12-05T17:40:29.251" v="13" actId="14100"/>
          <ac:picMkLst>
            <pc:docMk/>
            <pc:sldMk cId="2078977900" sldId="276"/>
            <ac:picMk id="4" creationId="{804D46F9-1BCE-5351-CAC6-75CA2FB0DAC8}"/>
          </ac:picMkLst>
        </pc:picChg>
        <pc:picChg chg="del">
          <ac:chgData name="Jashwanth Yarrarapu" userId="b3ff432d20d323d4" providerId="LiveId" clId="{3E7A0B3A-6AA3-404A-80FD-4B9C382BDBAD}" dt="2022-12-05T17:40:20.580" v="9" actId="478"/>
          <ac:picMkLst>
            <pc:docMk/>
            <pc:sldMk cId="2078977900" sldId="276"/>
            <ac:picMk id="9" creationId="{D3903BD2-75B4-4E74-E866-540EAA9AD9C1}"/>
          </ac:picMkLst>
        </pc:picChg>
      </pc:sldChg>
      <pc:sldChg chg="addSp delSp modSp mod">
        <pc:chgData name="Jashwanth Yarrarapu" userId="b3ff432d20d323d4" providerId="LiveId" clId="{3E7A0B3A-6AA3-404A-80FD-4B9C382BDBAD}" dt="2022-12-05T17:41:18.115" v="18" actId="14100"/>
        <pc:sldMkLst>
          <pc:docMk/>
          <pc:sldMk cId="2120225443" sldId="278"/>
        </pc:sldMkLst>
        <pc:picChg chg="add mod">
          <ac:chgData name="Jashwanth Yarrarapu" userId="b3ff432d20d323d4" providerId="LiveId" clId="{3E7A0B3A-6AA3-404A-80FD-4B9C382BDBAD}" dt="2022-12-05T17:41:18.115" v="18" actId="14100"/>
          <ac:picMkLst>
            <pc:docMk/>
            <pc:sldMk cId="2120225443" sldId="278"/>
            <ac:picMk id="2" creationId="{06377642-4462-FFD9-A748-DE670910E69C}"/>
          </ac:picMkLst>
        </pc:picChg>
        <pc:picChg chg="del">
          <ac:chgData name="Jashwanth Yarrarapu" userId="b3ff432d20d323d4" providerId="LiveId" clId="{3E7A0B3A-6AA3-404A-80FD-4B9C382BDBAD}" dt="2022-12-05T17:40:51.542" v="14" actId="478"/>
          <ac:picMkLst>
            <pc:docMk/>
            <pc:sldMk cId="2120225443" sldId="278"/>
            <ac:picMk id="6" creationId="{25207BC4-C3D9-E55E-DBD2-557EF7AE2842}"/>
          </ac:picMkLst>
        </pc:picChg>
      </pc:sldChg>
      <pc:sldChg chg="ord">
        <pc:chgData name="Jashwanth Yarrarapu" userId="b3ff432d20d323d4" providerId="LiveId" clId="{3E7A0B3A-6AA3-404A-80FD-4B9C382BDBAD}" dt="2022-12-05T17:43:46.978" v="29"/>
        <pc:sldMkLst>
          <pc:docMk/>
          <pc:sldMk cId="1782965996" sldId="285"/>
        </pc:sldMkLst>
      </pc:sldChg>
      <pc:sldChg chg="ord">
        <pc:chgData name="Jashwanth Yarrarapu" userId="b3ff432d20d323d4" providerId="LiveId" clId="{3E7A0B3A-6AA3-404A-80FD-4B9C382BDBAD}" dt="2022-12-05T17:44:42.601" v="35"/>
        <pc:sldMkLst>
          <pc:docMk/>
          <pc:sldMk cId="3502124484" sldId="286"/>
        </pc:sldMkLst>
      </pc:sldChg>
      <pc:sldChg chg="modSp mod ord">
        <pc:chgData name="Jashwanth Yarrarapu" userId="b3ff432d20d323d4" providerId="LiveId" clId="{3E7A0B3A-6AA3-404A-80FD-4B9C382BDBAD}" dt="2022-12-05T19:08:24.451" v="236" actId="20577"/>
        <pc:sldMkLst>
          <pc:docMk/>
          <pc:sldMk cId="1570952681" sldId="287"/>
        </pc:sldMkLst>
        <pc:spChg chg="mod">
          <ac:chgData name="Jashwanth Yarrarapu" userId="b3ff432d20d323d4" providerId="LiveId" clId="{3E7A0B3A-6AA3-404A-80FD-4B9C382BDBAD}" dt="2022-12-05T19:08:24.451" v="236" actId="20577"/>
          <ac:spMkLst>
            <pc:docMk/>
            <pc:sldMk cId="1570952681" sldId="287"/>
            <ac:spMk id="3" creationId="{5D0BE23E-84B9-93A4-F70C-B735551D8528}"/>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8T21:55:56.046"/>
    </inkml:context>
    <inkml:brush xml:id="br0">
      <inkml:brushProperty name="width" value="0.05" units="cm"/>
      <inkml:brushProperty name="height" value="0.05" units="cm"/>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8T21:55:56.910"/>
    </inkml:context>
    <inkml:brush xml:id="br0">
      <inkml:brushProperty name="width" value="0.05" units="cm"/>
      <inkml:brushProperty name="height" value="0.05" units="cm"/>
    </inkml:brush>
  </inkml:definitions>
  <inkml:trace contextRef="#ctx0" brushRef="#br0">0 1 24575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8T21:56:07.217"/>
    </inkml:context>
    <inkml:brush xml:id="br0">
      <inkml:brushProperty name="width" value="0.05" units="cm"/>
      <inkml:brushProperty name="height" value="0.05" units="cm"/>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8T21:56:09.975"/>
    </inkml:context>
    <inkml:brush xml:id="br0">
      <inkml:brushProperty name="width" value="0.05" units="cm"/>
      <inkml:brushProperty name="height" value="0.05" units="cm"/>
    </inkml:brush>
  </inkml:definitions>
  <inkml:trace contextRef="#ctx0" brushRef="#br0">0 0 24575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ED94D-481E-49B2-AF16-C2141A4BA8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472983-DE99-4227-B1EB-ABB64C4E9F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6062AA-5FAC-464B-8898-696CD17304C6}"/>
              </a:ext>
            </a:extLst>
          </p:cNvPr>
          <p:cNvSpPr>
            <a:spLocks noGrp="1"/>
          </p:cNvSpPr>
          <p:nvPr>
            <p:ph type="dt" sz="half" idx="10"/>
          </p:nvPr>
        </p:nvSpPr>
        <p:spPr/>
        <p:txBody>
          <a:bodyPr/>
          <a:lstStyle/>
          <a:p>
            <a:fld id="{FB7A95E5-C2EC-41F0-BC1A-D335DA715808}" type="datetimeFigureOut">
              <a:rPr lang="en-US" smtClean="0"/>
              <a:t>12/5/2022</a:t>
            </a:fld>
            <a:endParaRPr lang="en-US"/>
          </a:p>
        </p:txBody>
      </p:sp>
      <p:sp>
        <p:nvSpPr>
          <p:cNvPr id="5" name="Footer Placeholder 4">
            <a:extLst>
              <a:ext uri="{FF2B5EF4-FFF2-40B4-BE49-F238E27FC236}">
                <a16:creationId xmlns:a16="http://schemas.microsoft.com/office/drawing/2014/main" id="{753DB7F6-B62B-44D0-B6F4-1EE2DEB381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F21618-C123-4998-85FF-5FE32428C7AD}"/>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516942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E68F4-5E4C-4C55-9174-E72C68B08F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3FFE95-CE98-4E5B-9B14-7FAED0C37A1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173CB4-0DCC-4B51-8DD3-35F927C06724}"/>
              </a:ext>
            </a:extLst>
          </p:cNvPr>
          <p:cNvSpPr>
            <a:spLocks noGrp="1"/>
          </p:cNvSpPr>
          <p:nvPr>
            <p:ph type="dt" sz="half" idx="10"/>
          </p:nvPr>
        </p:nvSpPr>
        <p:spPr/>
        <p:txBody>
          <a:bodyPr/>
          <a:lstStyle/>
          <a:p>
            <a:fld id="{FB7A95E5-C2EC-41F0-BC1A-D335DA715808}" type="datetimeFigureOut">
              <a:rPr lang="en-US" smtClean="0"/>
              <a:t>12/5/2022</a:t>
            </a:fld>
            <a:endParaRPr lang="en-US"/>
          </a:p>
        </p:txBody>
      </p:sp>
      <p:sp>
        <p:nvSpPr>
          <p:cNvPr id="5" name="Footer Placeholder 4">
            <a:extLst>
              <a:ext uri="{FF2B5EF4-FFF2-40B4-BE49-F238E27FC236}">
                <a16:creationId xmlns:a16="http://schemas.microsoft.com/office/drawing/2014/main" id="{96B99447-D2E0-45FB-A908-B2AA34DDB3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2164A2-C58D-469F-86F4-BFF4FE261F30}"/>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1751869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05AF0-B5F1-470C-88C5-1709C6A87E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E3570B-9A03-48E2-BC58-B38DB58070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6F85D8A-B209-40C5-95C2-5E400CA98D47}"/>
              </a:ext>
            </a:extLst>
          </p:cNvPr>
          <p:cNvSpPr>
            <a:spLocks noGrp="1"/>
          </p:cNvSpPr>
          <p:nvPr>
            <p:ph type="dt" sz="half" idx="10"/>
          </p:nvPr>
        </p:nvSpPr>
        <p:spPr/>
        <p:txBody>
          <a:bodyPr/>
          <a:lstStyle/>
          <a:p>
            <a:fld id="{FB7A95E5-C2EC-41F0-BC1A-D335DA715808}" type="datetimeFigureOut">
              <a:rPr lang="en-US" smtClean="0"/>
              <a:t>12/5/2022</a:t>
            </a:fld>
            <a:endParaRPr lang="en-US"/>
          </a:p>
        </p:txBody>
      </p:sp>
      <p:sp>
        <p:nvSpPr>
          <p:cNvPr id="5" name="Footer Placeholder 4">
            <a:extLst>
              <a:ext uri="{FF2B5EF4-FFF2-40B4-BE49-F238E27FC236}">
                <a16:creationId xmlns:a16="http://schemas.microsoft.com/office/drawing/2014/main" id="{48C10364-3476-4CAC-886C-41F8D59D51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3F7437-994E-4E2B-8F70-D45766B957B8}"/>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3016108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05BE1-4D89-423A-BBDF-3A95179C1D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EC1011-3B6B-4B90-B78C-05AA7FED254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33F173-32DE-4FEF-91DF-987BAC158CE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09917F-3D29-4411-99E1-6ADD81EAD791}"/>
              </a:ext>
            </a:extLst>
          </p:cNvPr>
          <p:cNvSpPr>
            <a:spLocks noGrp="1"/>
          </p:cNvSpPr>
          <p:nvPr>
            <p:ph type="dt" sz="half" idx="10"/>
          </p:nvPr>
        </p:nvSpPr>
        <p:spPr/>
        <p:txBody>
          <a:bodyPr/>
          <a:lstStyle/>
          <a:p>
            <a:fld id="{FB7A95E5-C2EC-41F0-BC1A-D335DA715808}" type="datetimeFigureOut">
              <a:rPr lang="en-US" smtClean="0"/>
              <a:t>12/5/2022</a:t>
            </a:fld>
            <a:endParaRPr lang="en-US"/>
          </a:p>
        </p:txBody>
      </p:sp>
      <p:sp>
        <p:nvSpPr>
          <p:cNvPr id="6" name="Footer Placeholder 5">
            <a:extLst>
              <a:ext uri="{FF2B5EF4-FFF2-40B4-BE49-F238E27FC236}">
                <a16:creationId xmlns:a16="http://schemas.microsoft.com/office/drawing/2014/main" id="{1E227096-6D76-4426-B6DF-2226929C5D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89097F-452C-4AD2-BA85-ABDBAB2B4E32}"/>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759156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17C1-1994-4FED-B6A1-DDD756F956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68A104-1845-4383-B73F-9FC86AAD43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ED4F46E-8DA0-4A90-B266-C0E9F4683B2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1E7F64-DFC7-4D45-BCC3-99E0198739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63F87B1-0D0C-47E1-8CCE-250E1392AF0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FC3128-FFDA-42FA-9827-D632C88C1913}"/>
              </a:ext>
            </a:extLst>
          </p:cNvPr>
          <p:cNvSpPr>
            <a:spLocks noGrp="1"/>
          </p:cNvSpPr>
          <p:nvPr>
            <p:ph type="dt" sz="half" idx="10"/>
          </p:nvPr>
        </p:nvSpPr>
        <p:spPr/>
        <p:txBody>
          <a:bodyPr/>
          <a:lstStyle/>
          <a:p>
            <a:fld id="{FB7A95E5-C2EC-41F0-BC1A-D335DA715808}" type="datetimeFigureOut">
              <a:rPr lang="en-US" smtClean="0"/>
              <a:t>12/5/2022</a:t>
            </a:fld>
            <a:endParaRPr lang="en-US"/>
          </a:p>
        </p:txBody>
      </p:sp>
      <p:sp>
        <p:nvSpPr>
          <p:cNvPr id="8" name="Footer Placeholder 7">
            <a:extLst>
              <a:ext uri="{FF2B5EF4-FFF2-40B4-BE49-F238E27FC236}">
                <a16:creationId xmlns:a16="http://schemas.microsoft.com/office/drawing/2014/main" id="{29B7BCE4-E73E-4312-9F8A-BABA8EF5FD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E0457A-F1E6-420D-B2D2-5B53640E8285}"/>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3092709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4AF7D-B98E-44F6-89B4-AF21658BF7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6583D8-8B9C-4B37-B6B7-02EC4A2614C2}"/>
              </a:ext>
            </a:extLst>
          </p:cNvPr>
          <p:cNvSpPr>
            <a:spLocks noGrp="1"/>
          </p:cNvSpPr>
          <p:nvPr>
            <p:ph type="dt" sz="half" idx="10"/>
          </p:nvPr>
        </p:nvSpPr>
        <p:spPr/>
        <p:txBody>
          <a:bodyPr/>
          <a:lstStyle/>
          <a:p>
            <a:fld id="{FB7A95E5-C2EC-41F0-BC1A-D335DA715808}" type="datetimeFigureOut">
              <a:rPr lang="en-US" smtClean="0"/>
              <a:t>12/5/2022</a:t>
            </a:fld>
            <a:endParaRPr lang="en-US"/>
          </a:p>
        </p:txBody>
      </p:sp>
      <p:sp>
        <p:nvSpPr>
          <p:cNvPr id="4" name="Footer Placeholder 3">
            <a:extLst>
              <a:ext uri="{FF2B5EF4-FFF2-40B4-BE49-F238E27FC236}">
                <a16:creationId xmlns:a16="http://schemas.microsoft.com/office/drawing/2014/main" id="{2689516F-E077-480A-888A-2F447ECCFC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D8E149-5DEF-401E-90E6-81FE88B2E4F5}"/>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380666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24EB61-7DB1-4BAE-8339-747189541B9A}"/>
              </a:ext>
            </a:extLst>
          </p:cNvPr>
          <p:cNvSpPr>
            <a:spLocks noGrp="1"/>
          </p:cNvSpPr>
          <p:nvPr>
            <p:ph type="dt" sz="half" idx="10"/>
          </p:nvPr>
        </p:nvSpPr>
        <p:spPr/>
        <p:txBody>
          <a:bodyPr/>
          <a:lstStyle/>
          <a:p>
            <a:fld id="{FB7A95E5-C2EC-41F0-BC1A-D335DA715808}" type="datetimeFigureOut">
              <a:rPr lang="en-US" smtClean="0"/>
              <a:t>12/5/2022</a:t>
            </a:fld>
            <a:endParaRPr lang="en-US"/>
          </a:p>
        </p:txBody>
      </p:sp>
      <p:sp>
        <p:nvSpPr>
          <p:cNvPr id="3" name="Footer Placeholder 2">
            <a:extLst>
              <a:ext uri="{FF2B5EF4-FFF2-40B4-BE49-F238E27FC236}">
                <a16:creationId xmlns:a16="http://schemas.microsoft.com/office/drawing/2014/main" id="{F6975454-7BD6-4C7E-A9B8-41A57C1A27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B98693-120F-4F84-BD3D-7B49DDD90F4D}"/>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2049636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255EB-48C3-4AAC-A1DD-141BDECCD4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3ECDBE-6947-4E81-A4F8-737E82A8A5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9BDD29-D63C-41F0-9BE1-1D913B631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7C7D8BE-8C4D-48F2-B021-30232BF8CA3D}"/>
              </a:ext>
            </a:extLst>
          </p:cNvPr>
          <p:cNvSpPr>
            <a:spLocks noGrp="1"/>
          </p:cNvSpPr>
          <p:nvPr>
            <p:ph type="dt" sz="half" idx="10"/>
          </p:nvPr>
        </p:nvSpPr>
        <p:spPr/>
        <p:txBody>
          <a:bodyPr/>
          <a:lstStyle/>
          <a:p>
            <a:fld id="{FB7A95E5-C2EC-41F0-BC1A-D335DA715808}" type="datetimeFigureOut">
              <a:rPr lang="en-US" smtClean="0"/>
              <a:t>12/5/2022</a:t>
            </a:fld>
            <a:endParaRPr lang="en-US"/>
          </a:p>
        </p:txBody>
      </p:sp>
      <p:sp>
        <p:nvSpPr>
          <p:cNvPr id="6" name="Footer Placeholder 5">
            <a:extLst>
              <a:ext uri="{FF2B5EF4-FFF2-40B4-BE49-F238E27FC236}">
                <a16:creationId xmlns:a16="http://schemas.microsoft.com/office/drawing/2014/main" id="{E4F66ACD-3E13-41D3-AF4E-8087ED99C1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14159F-ACF7-4882-A309-0A1BE4BAC7E0}"/>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3593529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18AA0-F43C-407C-8218-2F7DA992FD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498B13-702F-4A11-B943-C9C1A0F56A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392A64-6753-4E61-A480-4D6E9D7BB2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0D0D4E3-D348-4362-92ED-B0CC99877F8B}"/>
              </a:ext>
            </a:extLst>
          </p:cNvPr>
          <p:cNvSpPr>
            <a:spLocks noGrp="1"/>
          </p:cNvSpPr>
          <p:nvPr>
            <p:ph type="dt" sz="half" idx="10"/>
          </p:nvPr>
        </p:nvSpPr>
        <p:spPr/>
        <p:txBody>
          <a:bodyPr/>
          <a:lstStyle/>
          <a:p>
            <a:fld id="{FB7A95E5-C2EC-41F0-BC1A-D335DA715808}" type="datetimeFigureOut">
              <a:rPr lang="en-US" smtClean="0"/>
              <a:t>12/5/2022</a:t>
            </a:fld>
            <a:endParaRPr lang="en-US"/>
          </a:p>
        </p:txBody>
      </p:sp>
      <p:sp>
        <p:nvSpPr>
          <p:cNvPr id="6" name="Footer Placeholder 5">
            <a:extLst>
              <a:ext uri="{FF2B5EF4-FFF2-40B4-BE49-F238E27FC236}">
                <a16:creationId xmlns:a16="http://schemas.microsoft.com/office/drawing/2014/main" id="{10E013C9-9351-454D-905D-43B2D084CB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C93BBA-6C6F-4C8B-BB00-9D11D58A5E30}"/>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1209415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AB816-AFF9-438B-A014-8636B10313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C4ECEC-88BD-448B-85C0-A488F7F63AE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0A302E-E0EC-4433-AF63-4B8DF1714254}"/>
              </a:ext>
            </a:extLst>
          </p:cNvPr>
          <p:cNvSpPr>
            <a:spLocks noGrp="1"/>
          </p:cNvSpPr>
          <p:nvPr>
            <p:ph type="dt" sz="half" idx="10"/>
          </p:nvPr>
        </p:nvSpPr>
        <p:spPr/>
        <p:txBody>
          <a:bodyPr/>
          <a:lstStyle/>
          <a:p>
            <a:fld id="{FB7A95E5-C2EC-41F0-BC1A-D335DA715808}" type="datetimeFigureOut">
              <a:rPr lang="en-US" smtClean="0"/>
              <a:t>12/5/2022</a:t>
            </a:fld>
            <a:endParaRPr lang="en-US"/>
          </a:p>
        </p:txBody>
      </p:sp>
      <p:sp>
        <p:nvSpPr>
          <p:cNvPr id="5" name="Footer Placeholder 4">
            <a:extLst>
              <a:ext uri="{FF2B5EF4-FFF2-40B4-BE49-F238E27FC236}">
                <a16:creationId xmlns:a16="http://schemas.microsoft.com/office/drawing/2014/main" id="{EB9D8E9D-32DF-48B4-A61E-B42BF6D688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0F8A80-A0AD-43D8-BE2E-1C575342B65A}"/>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1500132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5A08FA-CC3B-4BB6-AA58-4B7365F910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9CC4A9-EC3D-4EFB-A99D-521E02CE842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F8465-1D6E-4FF6-9982-A3BBF0426BCA}"/>
              </a:ext>
            </a:extLst>
          </p:cNvPr>
          <p:cNvSpPr>
            <a:spLocks noGrp="1"/>
          </p:cNvSpPr>
          <p:nvPr>
            <p:ph type="dt" sz="half" idx="10"/>
          </p:nvPr>
        </p:nvSpPr>
        <p:spPr/>
        <p:txBody>
          <a:bodyPr/>
          <a:lstStyle/>
          <a:p>
            <a:fld id="{FB7A95E5-C2EC-41F0-BC1A-D335DA715808}" type="datetimeFigureOut">
              <a:rPr lang="en-US" smtClean="0"/>
              <a:t>12/5/2022</a:t>
            </a:fld>
            <a:endParaRPr lang="en-US"/>
          </a:p>
        </p:txBody>
      </p:sp>
      <p:sp>
        <p:nvSpPr>
          <p:cNvPr id="5" name="Footer Placeholder 4">
            <a:extLst>
              <a:ext uri="{FF2B5EF4-FFF2-40B4-BE49-F238E27FC236}">
                <a16:creationId xmlns:a16="http://schemas.microsoft.com/office/drawing/2014/main" id="{5881B9CD-3E70-4756-873C-09823A5C6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21F235-DE89-4663-8E10-9D955A2D213D}"/>
              </a:ext>
            </a:extLst>
          </p:cNvPr>
          <p:cNvSpPr>
            <a:spLocks noGrp="1"/>
          </p:cNvSpPr>
          <p:nvPr>
            <p:ph type="sldNum" sz="quarter" idx="12"/>
          </p:nvPr>
        </p:nvSpPr>
        <p:spPr/>
        <p:txBody>
          <a:bodyPr/>
          <a:lstStyle/>
          <a:p>
            <a:fld id="{FD0CEF5D-B9D1-44BA-818A-79D19BF3F630}" type="slidenum">
              <a:rPr lang="en-US" smtClean="0"/>
              <a:t>‹#›</a:t>
            </a:fld>
            <a:endParaRPr lang="en-US"/>
          </a:p>
        </p:txBody>
      </p:sp>
    </p:spTree>
    <p:extLst>
      <p:ext uri="{BB962C8B-B14F-4D97-AF65-F5344CB8AC3E}">
        <p14:creationId xmlns:p14="http://schemas.microsoft.com/office/powerpoint/2010/main" val="231445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CC90B3-FB83-41EC-8231-9024261739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5CCBBF-1D41-4AAD-BD26-CC1BDA54D1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98CFB9-BE09-486F-8F0F-3608811855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7A95E5-C2EC-41F0-BC1A-D335DA715808}" type="datetimeFigureOut">
              <a:rPr lang="en-US" smtClean="0"/>
              <a:t>12/5/2022</a:t>
            </a:fld>
            <a:endParaRPr lang="en-US"/>
          </a:p>
        </p:txBody>
      </p:sp>
      <p:sp>
        <p:nvSpPr>
          <p:cNvPr id="5" name="Footer Placeholder 4">
            <a:extLst>
              <a:ext uri="{FF2B5EF4-FFF2-40B4-BE49-F238E27FC236}">
                <a16:creationId xmlns:a16="http://schemas.microsoft.com/office/drawing/2014/main" id="{C431F339-0F16-415C-B125-46E1328E19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9DDB0D-F804-43B8-BBC5-8D8828A083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0CEF5D-B9D1-44BA-818A-79D19BF3F630}" type="slidenum">
              <a:rPr lang="en-US" smtClean="0"/>
              <a:t>‹#›</a:t>
            </a:fld>
            <a:endParaRPr lang="en-US"/>
          </a:p>
        </p:txBody>
      </p:sp>
    </p:spTree>
    <p:extLst>
      <p:ext uri="{BB962C8B-B14F-4D97-AF65-F5344CB8AC3E}">
        <p14:creationId xmlns:p14="http://schemas.microsoft.com/office/powerpoint/2010/main" val="652680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127.0.0.1/phpmyadmin/index.php"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4.xml"/><Relationship Id="rId6" Type="http://schemas.openxmlformats.org/officeDocument/2006/relationships/customXml" Target="../ink/ink4.xml"/><Relationship Id="rId5" Type="http://schemas.openxmlformats.org/officeDocument/2006/relationships/customXml" Target="../ink/ink3.xml"/><Relationship Id="rId4" Type="http://schemas.openxmlformats.org/officeDocument/2006/relationships/customXml" Target="../ink/ink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C7E72-45DD-42A6-88DC-DE3198957969}"/>
              </a:ext>
            </a:extLst>
          </p:cNvPr>
          <p:cNvSpPr>
            <a:spLocks noGrp="1"/>
          </p:cNvSpPr>
          <p:nvPr>
            <p:ph type="ctrTitle"/>
          </p:nvPr>
        </p:nvSpPr>
        <p:spPr>
          <a:xfrm>
            <a:off x="1524000" y="489397"/>
            <a:ext cx="9144000" cy="1609860"/>
          </a:xfrm>
        </p:spPr>
        <p:txBody>
          <a:bodyPr>
            <a:normAutofit/>
          </a:bodyPr>
          <a:lstStyle/>
          <a:p>
            <a:r>
              <a:rPr lang="en-US" sz="5400" dirty="0">
                <a:latin typeface="Times New Roman" panose="02020603050405020304" pitchFamily="18" charset="0"/>
                <a:cs typeface="Times New Roman" panose="02020603050405020304" pitchFamily="18" charset="0"/>
              </a:rPr>
              <a:t>Ticketing Software</a:t>
            </a:r>
          </a:p>
        </p:txBody>
      </p:sp>
      <p:sp>
        <p:nvSpPr>
          <p:cNvPr id="5" name="TextBox 4">
            <a:extLst>
              <a:ext uri="{FF2B5EF4-FFF2-40B4-BE49-F238E27FC236}">
                <a16:creationId xmlns:a16="http://schemas.microsoft.com/office/drawing/2014/main" id="{38CA6213-1938-4DD1-9A43-662385B5923A}"/>
              </a:ext>
            </a:extLst>
          </p:cNvPr>
          <p:cNvSpPr txBox="1"/>
          <p:nvPr/>
        </p:nvSpPr>
        <p:spPr>
          <a:xfrm>
            <a:off x="4486141" y="5022761"/>
            <a:ext cx="3219718" cy="615553"/>
          </a:xfrm>
          <a:prstGeom prst="rect">
            <a:avLst/>
          </a:prstGeom>
          <a:noFill/>
        </p:spPr>
        <p:txBody>
          <a:bodyPr wrap="square" rtlCol="0">
            <a:spAutoFit/>
          </a:bodyPr>
          <a:lstStyle/>
          <a:p>
            <a:pPr algn="ctr"/>
            <a:r>
              <a:rPr lang="en-US" sz="3400" b="1" dirty="0">
                <a:latin typeface="Times New Roman" panose="02020603050405020304" pitchFamily="18" charset="0"/>
                <a:cs typeface="Times New Roman" panose="02020603050405020304" pitchFamily="18" charset="0"/>
              </a:rPr>
              <a:t>Group - 4</a:t>
            </a:r>
          </a:p>
        </p:txBody>
      </p:sp>
    </p:spTree>
    <p:extLst>
      <p:ext uri="{BB962C8B-B14F-4D97-AF65-F5344CB8AC3E}">
        <p14:creationId xmlns:p14="http://schemas.microsoft.com/office/powerpoint/2010/main" val="3408284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13E69-31E9-47BA-A534-FB8072F69F02}"/>
              </a:ext>
            </a:extLst>
          </p:cNvPr>
          <p:cNvSpPr>
            <a:spLocks noGrp="1"/>
          </p:cNvSpPr>
          <p:nvPr>
            <p:ph type="title"/>
          </p:nvPr>
        </p:nvSpPr>
        <p:spPr>
          <a:xfrm>
            <a:off x="838200" y="180304"/>
            <a:ext cx="10515600" cy="695460"/>
          </a:xfrm>
        </p:spPr>
        <p:txBody>
          <a:bodyPr>
            <a:normAutofit/>
          </a:bodyPr>
          <a:lstStyle/>
          <a:p>
            <a:r>
              <a:rPr lang="en-US" b="1" u="sng" dirty="0">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216835BA-B28E-491F-A027-84042747CA8A}"/>
              </a:ext>
            </a:extLst>
          </p:cNvPr>
          <p:cNvSpPr>
            <a:spLocks noGrp="1"/>
          </p:cNvSpPr>
          <p:nvPr>
            <p:ph idx="1"/>
          </p:nvPr>
        </p:nvSpPr>
        <p:spPr>
          <a:xfrm>
            <a:off x="838200" y="1146220"/>
            <a:ext cx="10515600" cy="5346654"/>
          </a:xfrm>
        </p:spPr>
        <p:txBody>
          <a:bodyPr>
            <a:normAutofit fontScale="92500" lnSpcReduction="20000"/>
          </a:bodyPr>
          <a:lstStyle/>
          <a:p>
            <a:r>
              <a:rPr lang="en-US" sz="3200" dirty="0"/>
              <a:t>Introduction</a:t>
            </a:r>
          </a:p>
          <a:p>
            <a:r>
              <a:rPr lang="en-US" sz="3200" dirty="0"/>
              <a:t>Tools and Technologies</a:t>
            </a:r>
          </a:p>
          <a:p>
            <a:r>
              <a:rPr lang="en-US" sz="3200" dirty="0"/>
              <a:t>Development Process</a:t>
            </a:r>
          </a:p>
          <a:p>
            <a:r>
              <a:rPr lang="en-US" sz="3200" dirty="0"/>
              <a:t>Conceptualization</a:t>
            </a:r>
          </a:p>
          <a:p>
            <a:r>
              <a:rPr lang="en-US" sz="3200" dirty="0"/>
              <a:t>Functional Requirements</a:t>
            </a:r>
          </a:p>
          <a:p>
            <a:r>
              <a:rPr lang="en-US" sz="3200" dirty="0"/>
              <a:t>Design</a:t>
            </a:r>
          </a:p>
          <a:p>
            <a:pPr lvl="1"/>
            <a:r>
              <a:rPr lang="en-US" sz="2800" dirty="0"/>
              <a:t>Data design</a:t>
            </a:r>
          </a:p>
          <a:p>
            <a:pPr lvl="1"/>
            <a:r>
              <a:rPr lang="en-US" sz="2800" dirty="0"/>
              <a:t>Data structure</a:t>
            </a:r>
          </a:p>
          <a:p>
            <a:pPr lvl="1"/>
            <a:r>
              <a:rPr lang="en-US" sz="2800" dirty="0"/>
              <a:t>Architecture Design</a:t>
            </a:r>
          </a:p>
          <a:p>
            <a:r>
              <a:rPr lang="en-US" sz="3200" dirty="0"/>
              <a:t>Test Cases</a:t>
            </a:r>
          </a:p>
          <a:p>
            <a:r>
              <a:rPr lang="en-US" sz="3200" dirty="0"/>
              <a:t>Summary</a:t>
            </a:r>
          </a:p>
          <a:p>
            <a:r>
              <a:rPr lang="en-US" sz="3200" dirty="0"/>
              <a:t>Design Implementation screenshots</a:t>
            </a:r>
          </a:p>
          <a:p>
            <a:endParaRPr lang="en-US" sz="3200" dirty="0"/>
          </a:p>
          <a:p>
            <a:endParaRPr lang="en-US" dirty="0"/>
          </a:p>
        </p:txBody>
      </p:sp>
    </p:spTree>
    <p:extLst>
      <p:ext uri="{BB962C8B-B14F-4D97-AF65-F5344CB8AC3E}">
        <p14:creationId xmlns:p14="http://schemas.microsoft.com/office/powerpoint/2010/main" val="329029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8C72C-6AD7-4247-886E-7C12FAF995AD}"/>
              </a:ext>
            </a:extLst>
          </p:cNvPr>
          <p:cNvSpPr>
            <a:spLocks noGrp="1"/>
          </p:cNvSpPr>
          <p:nvPr>
            <p:ph type="title"/>
          </p:nvPr>
        </p:nvSpPr>
        <p:spPr>
          <a:xfrm>
            <a:off x="838200" y="365126"/>
            <a:ext cx="10515600" cy="1038672"/>
          </a:xfrm>
        </p:spPr>
        <p:txBody>
          <a:bodyPr/>
          <a:lstStyle/>
          <a:p>
            <a:r>
              <a:rPr lang="en-US" b="1" u="sng"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4A508B99-36B0-46FC-BAF0-0984DD19747F}"/>
              </a:ext>
            </a:extLst>
          </p:cNvPr>
          <p:cNvSpPr>
            <a:spLocks noGrp="1"/>
          </p:cNvSpPr>
          <p:nvPr>
            <p:ph idx="1"/>
          </p:nvPr>
        </p:nvSpPr>
        <p:spPr>
          <a:xfrm>
            <a:off x="838200" y="1403798"/>
            <a:ext cx="10515600" cy="4773165"/>
          </a:xfrm>
        </p:spPr>
        <p:txBody>
          <a:bodyPr>
            <a:normAutofit/>
          </a:bodyPr>
          <a:lstStyle/>
          <a:p>
            <a:pPr marL="0" indent="0" algn="just">
              <a:lnSpc>
                <a:spcPct val="100000"/>
              </a:lnSpc>
              <a:buNone/>
            </a:pPr>
            <a:r>
              <a:rPr lang="en-US" sz="2000" dirty="0">
                <a:latin typeface="Times New Roman" panose="02020603050405020304" pitchFamily="18" charset="0"/>
                <a:cs typeface="Times New Roman" panose="02020603050405020304" pitchFamily="18" charset="0"/>
              </a:rPr>
              <a:t>System development often referred to as the application development life cycle, is the architecting of the system via planning, creating, testing, and deploying it as well.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In this presentation, we shall discuss our system development process in stage one, as well as the full plan of the system thereof.</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project is accentual in a way that an issue can be posted to the particular department authority immediately, to solve problem, in this case we are preparing this project to reach the student’s requirement in the university. The main agenda of our project is to create a software, ticketing tool, where every individual can either suggest or inform according to their perspective, regarding certain issue, to the officials. </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3582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97ECB-04AE-C49E-9156-E52523E9BABB}"/>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Introduction(</a:t>
            </a:r>
            <a:r>
              <a:rPr lang="en-US" b="1" u="sng" dirty="0" err="1">
                <a:latin typeface="Times New Roman" panose="02020603050405020304" pitchFamily="18" charset="0"/>
                <a:cs typeface="Times New Roman" panose="02020603050405020304" pitchFamily="18" charset="0"/>
              </a:rPr>
              <a:t>Cont</a:t>
            </a:r>
            <a:r>
              <a:rPr lang="en-US" b="1" u="sng"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EB8329A8-7495-948A-8378-65C189A23E7C}"/>
              </a:ext>
            </a:extLst>
          </p:cNvPr>
          <p:cNvSpPr>
            <a:spLocks noGrp="1"/>
          </p:cNvSpPr>
          <p:nvPr>
            <p:ph idx="1"/>
          </p:nvPr>
        </p:nvSpPr>
        <p:spPr/>
        <p:txBody>
          <a:bodyPr>
            <a:normAutofit/>
          </a:bodyPr>
          <a:lstStyle/>
          <a:p>
            <a:pPr marL="0" marR="0" indent="0">
              <a:lnSpc>
                <a:spcPct val="115000"/>
              </a:lnSpc>
              <a:spcBef>
                <a:spcPts val="0"/>
              </a:spcBef>
              <a:spcAft>
                <a:spcPts val="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is one of the various software, which is helpful to rectify complications, ticketing tool. By using the web, we can raise an issue, so called ticket, it’ll reach to the respective host. This process not only help the students but also the management, in this way they can improve their respective task and help them to notice and solve easily, besides going through abundant mails.</a:t>
            </a:r>
          </a:p>
        </p:txBody>
      </p:sp>
    </p:spTree>
    <p:extLst>
      <p:ext uri="{BB962C8B-B14F-4D97-AF65-F5344CB8AC3E}">
        <p14:creationId xmlns:p14="http://schemas.microsoft.com/office/powerpoint/2010/main" val="3444983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BEE50-E888-47FC-DA40-71F06C126409}"/>
              </a:ext>
            </a:extLst>
          </p:cNvPr>
          <p:cNvSpPr>
            <a:spLocks noGrp="1"/>
          </p:cNvSpPr>
          <p:nvPr>
            <p:ph type="title"/>
          </p:nvPr>
        </p:nvSpPr>
        <p:spPr/>
        <p:txBody>
          <a:bodyPr>
            <a:normAutofit/>
          </a:bodyPr>
          <a:lstStyle/>
          <a:p>
            <a:r>
              <a:rPr lang="en-US" b="1" u="sng" dirty="0">
                <a:latin typeface="Times New Roman" panose="02020603050405020304" pitchFamily="18" charset="0"/>
                <a:cs typeface="Times New Roman" panose="02020603050405020304" pitchFamily="18" charset="0"/>
              </a:rPr>
              <a:t>Tools and Technologies</a:t>
            </a:r>
          </a:p>
        </p:txBody>
      </p:sp>
      <p:sp>
        <p:nvSpPr>
          <p:cNvPr id="3" name="Content Placeholder 2">
            <a:extLst>
              <a:ext uri="{FF2B5EF4-FFF2-40B4-BE49-F238E27FC236}">
                <a16:creationId xmlns:a16="http://schemas.microsoft.com/office/drawing/2014/main" id="{D2A41ABE-1403-ABC4-1D36-8C0ADCDAFBA8}"/>
              </a:ext>
            </a:extLst>
          </p:cNvPr>
          <p:cNvSpPr>
            <a:spLocks noGrp="1"/>
          </p:cNvSpPr>
          <p:nvPr>
            <p:ph idx="1"/>
          </p:nvPr>
        </p:nvSpPr>
        <p:spPr/>
        <p:txBody>
          <a:bodyPr>
            <a:normAutofit fontScale="92500" lnSpcReduction="20000"/>
          </a:bodyPr>
          <a:lstStyle/>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Technology/Domain: Java</a:t>
            </a: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Front-End: JSP, Html, CSS, JS, Bootstrap.</a:t>
            </a: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Server-side: Servlet.</a:t>
            </a: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Back-end: MYSQL.</a:t>
            </a: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Server: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Xampp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b="1" u="sng" dirty="0">
                <a:effectLst/>
                <a:latin typeface="Calibri" panose="020F0502020204030204" pitchFamily="34" charset="0"/>
                <a:ea typeface="Calibri" panose="020F0502020204030204" pitchFamily="34" charset="0"/>
                <a:cs typeface="Times New Roman" panose="02020603050405020304" pitchFamily="18" charset="0"/>
              </a:rPr>
              <a:t>Modules and Functionalities of Helpdesk Ticket 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There are two main roles that is Admin &amp; User. Let us see the functionality of each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mj-lt"/>
              <a:buAutoNum type="arabicPeriod"/>
            </a:pP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u="sng" dirty="0">
                <a:effectLst/>
                <a:latin typeface="Calibri" panose="020F0502020204030204" pitchFamily="34" charset="0"/>
                <a:ea typeface="Calibri" panose="020F0502020204030204" pitchFamily="34" charset="0"/>
                <a:cs typeface="Calibri" panose="020F0502020204030204" pitchFamily="34" charset="0"/>
              </a:rPr>
              <a:t>Admin</a:t>
            </a:r>
            <a:r>
              <a:rPr lang="en-US" sz="1800" u="sng" dirty="0">
                <a:latin typeface="Calibri" panose="020F0502020204030204" pitchFamily="34" charset="0"/>
                <a:ea typeface="Calibri" panose="020F0502020204030204" pitchFamily="34" charset="0"/>
                <a:cs typeface="Calibri" panose="020F0502020204030204" pitchFamily="34"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Admin can ADD/VIEW/UPDATE/DELETE ticket category(type).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Admin can ADD/VIEW/UPDATE/DELETE ticket status.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It can ADD/VIEW/UPDATE/DELETE a new ticket.</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Admin can VIEW/UPDATE/DELETE tickets raised by users.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Admin can ADD comments on a particular ticket raised.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It can close the ticket also.</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It can VIEW all the users in the system.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33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7BA17-17A2-A6A0-4F77-849140385C24}"/>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Tools and Technologies(</a:t>
            </a:r>
            <a:r>
              <a:rPr lang="en-US" b="1" u="sng" dirty="0" err="1">
                <a:latin typeface="Times New Roman" panose="02020603050405020304" pitchFamily="18" charset="0"/>
                <a:cs typeface="Times New Roman" panose="02020603050405020304" pitchFamily="18" charset="0"/>
              </a:rPr>
              <a:t>Cont</a:t>
            </a:r>
            <a:r>
              <a:rPr lang="en-US" b="1" u="sng"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4E6ADF95-5A10-6590-B6C8-B9435BF77C44}"/>
              </a:ext>
            </a:extLst>
          </p:cNvPr>
          <p:cNvSpPr>
            <a:spLocks noGrp="1"/>
          </p:cNvSpPr>
          <p:nvPr>
            <p:ph idx="1"/>
          </p:nvPr>
        </p:nvSpPr>
        <p:spPr/>
        <p:txBody>
          <a:bodyPr>
            <a:normAutofit/>
          </a:bodyPr>
          <a:lstStyle/>
          <a:p>
            <a:pPr marL="342900" marR="0" lvl="0" indent="-342900">
              <a:lnSpc>
                <a:spcPct val="115000"/>
              </a:lnSpc>
              <a:spcBef>
                <a:spcPts val="0"/>
              </a:spcBef>
              <a:spcAft>
                <a:spcPts val="0"/>
              </a:spcAft>
              <a:buAutoNum type="arabicPeriod" startAt="2"/>
            </a:pPr>
            <a:r>
              <a:rPr lang="en-US" sz="2000" u="sng" dirty="0">
                <a:effectLst/>
                <a:latin typeface="Times New Roman" panose="02020603050405020304" pitchFamily="18" charset="0"/>
                <a:ea typeface="Calibri" panose="020F0502020204030204" pitchFamily="34" charset="0"/>
                <a:cs typeface="Times New Roman" panose="02020603050405020304" pitchFamily="18" charset="0"/>
              </a:rPr>
              <a:t>User</a:t>
            </a:r>
            <a:r>
              <a:rPr lang="en-US" sz="2000" u="sng" dirty="0">
                <a:latin typeface="Times New Roman" panose="02020603050405020304" pitchFamily="18" charset="0"/>
                <a:ea typeface="Calibri" panose="020F0502020204030204" pitchFamily="34" charset="0"/>
                <a:cs typeface="Times New Roman" panose="02020603050405020304" pitchFamily="18" charset="0"/>
              </a:rPr>
              <a: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1" indent="0">
              <a:lnSpc>
                <a:spcPct val="115000"/>
              </a:lnSpc>
              <a:spcBef>
                <a:spcPts val="0"/>
              </a:spcBef>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Users can raise helpdesk tickets.</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1" indent="0">
              <a:lnSpc>
                <a:spcPct val="115000"/>
              </a:lnSpc>
              <a:spcBef>
                <a:spcPts val="0"/>
              </a:spcBef>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Users can VIEW/UPDATE/DELETE tickets raised.</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1" indent="0">
              <a:lnSpc>
                <a:spcPct val="115000"/>
              </a:lnSpc>
              <a:spcBef>
                <a:spcPts val="0"/>
              </a:spcBef>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It can ADD the comment also.</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0952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305C7-68AA-412E-982E-4E3E642CBEF7}"/>
              </a:ext>
            </a:extLst>
          </p:cNvPr>
          <p:cNvSpPr>
            <a:spLocks noGrp="1"/>
          </p:cNvSpPr>
          <p:nvPr>
            <p:ph type="title"/>
          </p:nvPr>
        </p:nvSpPr>
        <p:spPr>
          <a:xfrm>
            <a:off x="838200" y="365125"/>
            <a:ext cx="10515600" cy="1115945"/>
          </a:xfrm>
        </p:spPr>
        <p:txBody>
          <a:bodyPr/>
          <a:lstStyle/>
          <a:p>
            <a:r>
              <a:rPr lang="en-US" b="1" u="sng" dirty="0">
                <a:latin typeface="Times New Roman" panose="02020603050405020304" pitchFamily="18" charset="0"/>
                <a:cs typeface="Times New Roman" panose="02020603050405020304" pitchFamily="18" charset="0"/>
              </a:rPr>
              <a:t>Development Process</a:t>
            </a:r>
          </a:p>
        </p:txBody>
      </p:sp>
      <p:pic>
        <p:nvPicPr>
          <p:cNvPr id="5" name="Content Placeholder 4">
            <a:extLst>
              <a:ext uri="{FF2B5EF4-FFF2-40B4-BE49-F238E27FC236}">
                <a16:creationId xmlns:a16="http://schemas.microsoft.com/office/drawing/2014/main" id="{7C143E8A-1F2D-4999-B220-A770AA16DB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7713" y="1313645"/>
            <a:ext cx="8976573" cy="5179230"/>
          </a:xfrm>
        </p:spPr>
      </p:pic>
    </p:spTree>
    <p:extLst>
      <p:ext uri="{BB962C8B-B14F-4D97-AF65-F5344CB8AC3E}">
        <p14:creationId xmlns:p14="http://schemas.microsoft.com/office/powerpoint/2010/main" val="3723275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10FB-F3BF-4324-9107-4931905A01F7}"/>
              </a:ext>
            </a:extLst>
          </p:cNvPr>
          <p:cNvSpPr>
            <a:spLocks noGrp="1"/>
          </p:cNvSpPr>
          <p:nvPr>
            <p:ph type="title"/>
          </p:nvPr>
        </p:nvSpPr>
        <p:spPr>
          <a:xfrm>
            <a:off x="838200" y="365125"/>
            <a:ext cx="10515600" cy="1025793"/>
          </a:xfrm>
        </p:spPr>
        <p:txBody>
          <a:bodyPr/>
          <a:lstStyle/>
          <a:p>
            <a:r>
              <a:rPr lang="en-US" b="1" u="sng" dirty="0">
                <a:latin typeface="Times New Roman" panose="02020603050405020304" pitchFamily="18" charset="0"/>
                <a:cs typeface="Times New Roman" panose="02020603050405020304" pitchFamily="18" charset="0"/>
              </a:rPr>
              <a:t>Conceptualization</a:t>
            </a:r>
          </a:p>
        </p:txBody>
      </p:sp>
      <p:sp>
        <p:nvSpPr>
          <p:cNvPr id="3" name="Content Placeholder 2">
            <a:extLst>
              <a:ext uri="{FF2B5EF4-FFF2-40B4-BE49-F238E27FC236}">
                <a16:creationId xmlns:a16="http://schemas.microsoft.com/office/drawing/2014/main" id="{156FF470-2C1B-4D5B-82BB-E008E73952EF}"/>
              </a:ext>
            </a:extLst>
          </p:cNvPr>
          <p:cNvSpPr>
            <a:spLocks noGrp="1"/>
          </p:cNvSpPr>
          <p:nvPr>
            <p:ph idx="1"/>
          </p:nvPr>
        </p:nvSpPr>
        <p:spPr>
          <a:xfrm>
            <a:off x="838200" y="1275008"/>
            <a:ext cx="10515600" cy="4901955"/>
          </a:xfrm>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Target Audience: </a:t>
            </a:r>
          </a:p>
          <a:p>
            <a:pPr marL="0" indent="0">
              <a:buNone/>
            </a:pPr>
            <a:r>
              <a:rPr lang="en-US" dirty="0">
                <a:latin typeface="Times New Roman" panose="02020603050405020304" pitchFamily="18" charset="0"/>
                <a:cs typeface="Times New Roman" panose="02020603050405020304" pitchFamily="18" charset="0"/>
              </a:rPr>
              <a:t>	- Corporate market </a:t>
            </a:r>
          </a:p>
          <a:p>
            <a:pPr marL="0" indent="0">
              <a:buNone/>
            </a:pPr>
            <a:r>
              <a:rPr lang="en-US" dirty="0">
                <a:latin typeface="Times New Roman" panose="02020603050405020304" pitchFamily="18" charset="0"/>
                <a:cs typeface="Times New Roman" panose="02020603050405020304" pitchFamily="18" charset="0"/>
              </a:rPr>
              <a:t>	- Social Market</a:t>
            </a:r>
          </a:p>
          <a:p>
            <a:pPr marL="0" indent="0">
              <a:buNone/>
            </a:pPr>
            <a:r>
              <a:rPr lang="en-US" dirty="0">
                <a:latin typeface="Times New Roman" panose="02020603050405020304" pitchFamily="18" charset="0"/>
                <a:cs typeface="Times New Roman" panose="02020603050405020304" pitchFamily="18" charset="0"/>
              </a:rPr>
              <a:t>Goals: </a:t>
            </a:r>
          </a:p>
          <a:p>
            <a:pPr marL="0" indent="0">
              <a:buNone/>
            </a:pPr>
            <a:r>
              <a:rPr lang="en-US" dirty="0">
                <a:latin typeface="Times New Roman" panose="02020603050405020304" pitchFamily="18" charset="0"/>
                <a:cs typeface="Times New Roman" panose="02020603050405020304" pitchFamily="18" charset="0"/>
              </a:rPr>
              <a:t>	Short Term Goals:</a:t>
            </a:r>
          </a:p>
          <a:p>
            <a:pPr marL="914400" lvl="2" indent="0">
              <a:buNone/>
            </a:pP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Speed up the process of ticket issuance and ensuring an 	efficient process.</a:t>
            </a:r>
          </a:p>
          <a:p>
            <a:pPr marL="0" indent="0">
              <a:buNone/>
            </a:pPr>
            <a:r>
              <a:rPr lang="en-US" dirty="0">
                <a:latin typeface="Times New Roman" panose="02020603050405020304" pitchFamily="18" charset="0"/>
                <a:cs typeface="Times New Roman" panose="02020603050405020304" pitchFamily="18" charset="0"/>
              </a:rPr>
              <a:t>	Long Term Goals:</a:t>
            </a:r>
          </a:p>
          <a:p>
            <a:pPr marL="0" indent="0">
              <a:buNone/>
            </a:pPr>
            <a:r>
              <a:rPr lang="en-US" dirty="0">
                <a:latin typeface="Times New Roman" panose="02020603050405020304" pitchFamily="18" charset="0"/>
                <a:cs typeface="Times New Roman" panose="02020603050405020304" pitchFamily="18" charset="0"/>
              </a:rPr>
              <a:t>		Track, manage, and automate event booking with the issuance 		of tickets. Efficient practice is the core goal for the proposed 			system.</a:t>
            </a:r>
          </a:p>
          <a:p>
            <a:pPr marL="0" indent="0">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48838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32A9B-CBB6-0D2E-9AFD-78BCDEAD40D8}"/>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Functional Requirements</a:t>
            </a:r>
          </a:p>
        </p:txBody>
      </p:sp>
      <p:sp>
        <p:nvSpPr>
          <p:cNvPr id="3" name="Content Placeholder 2">
            <a:extLst>
              <a:ext uri="{FF2B5EF4-FFF2-40B4-BE49-F238E27FC236}">
                <a16:creationId xmlns:a16="http://schemas.microsoft.com/office/drawing/2014/main" id="{A13DF30A-71B9-B69B-2A58-D26803FA47A1}"/>
              </a:ext>
            </a:extLst>
          </p:cNvPr>
          <p:cNvSpPr>
            <a:spLocks noGrp="1"/>
          </p:cNvSpPr>
          <p:nvPr>
            <p:ph idx="1"/>
          </p:nvPr>
        </p:nvSpPr>
        <p:spPr/>
        <p:txBody>
          <a:bodyPr>
            <a:normAutofit/>
          </a:bodyPr>
          <a:lstStyle/>
          <a:p>
            <a:pPr marL="0" marR="0" indent="0" algn="just">
              <a:lnSpc>
                <a:spcPct val="200000"/>
              </a:lnSpc>
              <a:spcBef>
                <a:spcPts val="0"/>
              </a:spcBef>
              <a:spcAft>
                <a:spcPts val="0"/>
              </a:spcAft>
              <a:buNone/>
            </a:pPr>
            <a:r>
              <a:rPr lang="en-US" sz="1800" dirty="0">
                <a:effectLst/>
                <a:latin typeface="Times" panose="02020603050405020304" pitchFamily="18" charset="0"/>
                <a:ea typeface="Times" panose="02020603050405020304" pitchFamily="18" charset="0"/>
              </a:rPr>
              <a:t>Functional requirements simply refer to the product features. The product features consist of the aid features that enable users to accomplish their tasks. The requirements must consist of system behaviors under specific conditions.</a:t>
            </a:r>
            <a:endParaRPr lang="en-US" sz="1800" dirty="0">
              <a:effectLst/>
              <a:latin typeface="Arial" panose="020B0604020202020204" pitchFamily="34" charset="0"/>
              <a:ea typeface="Arial" panose="020B0604020202020204" pitchFamily="34" charset="0"/>
            </a:endParaRPr>
          </a:p>
          <a:p>
            <a:pPr marL="0" marR="0" indent="0" algn="just">
              <a:lnSpc>
                <a:spcPct val="200000"/>
              </a:lnSpc>
              <a:spcBef>
                <a:spcPts val="0"/>
              </a:spcBef>
              <a:spcAft>
                <a:spcPts val="0"/>
              </a:spcAft>
              <a:buNone/>
            </a:pPr>
            <a:r>
              <a:rPr lang="en-US" sz="1800" dirty="0">
                <a:effectLst/>
                <a:latin typeface="Times" panose="02020603050405020304" pitchFamily="18" charset="0"/>
                <a:ea typeface="Times" panose="02020603050405020304" pitchFamily="18" charset="0"/>
              </a:rPr>
              <a:t>These requirements do not describe the implementable, rather, they describe the question, how?</a:t>
            </a:r>
            <a:endParaRPr lang="en-US" sz="1800" dirty="0">
              <a:effectLst/>
              <a:latin typeface="Arial" panose="020B0604020202020204" pitchFamily="34" charset="0"/>
              <a:ea typeface="Arial" panose="020B0604020202020204" pitchFamily="34" charset="0"/>
            </a:endParaRPr>
          </a:p>
          <a:p>
            <a:pPr marL="0" marR="0" indent="0" algn="just">
              <a:lnSpc>
                <a:spcPct val="200000"/>
              </a:lnSpc>
              <a:spcBef>
                <a:spcPts val="0"/>
              </a:spcBef>
              <a:spcAft>
                <a:spcPts val="0"/>
              </a:spcAft>
              <a:buNone/>
            </a:pPr>
            <a:r>
              <a:rPr lang="en-US" sz="1800" dirty="0">
                <a:effectLst/>
                <a:latin typeface="Times" panose="02020603050405020304" pitchFamily="18" charset="0"/>
                <a:ea typeface="Times" panose="02020603050405020304" pitchFamily="18" charset="0"/>
              </a:rPr>
              <a:t>Technically, defining functional requirements describes the base start of the software development and implementation. </a:t>
            </a:r>
            <a:endParaRPr lang="en-US" sz="1800" dirty="0">
              <a:effectLst/>
              <a:latin typeface="Arial" panose="020B0604020202020204" pitchFamily="34" charset="0"/>
              <a:ea typeface="Arial" panose="020B0604020202020204" pitchFamily="34"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3632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30F79-0984-A5BD-8397-870B27801F17}"/>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Functional Requirements</a:t>
            </a:r>
            <a:endParaRPr lang="en-US" dirty="0"/>
          </a:p>
        </p:txBody>
      </p:sp>
      <p:sp>
        <p:nvSpPr>
          <p:cNvPr id="3" name="Content Placeholder 2">
            <a:extLst>
              <a:ext uri="{FF2B5EF4-FFF2-40B4-BE49-F238E27FC236}">
                <a16:creationId xmlns:a16="http://schemas.microsoft.com/office/drawing/2014/main" id="{431BD9B5-C104-7488-B6B1-744ACD63A856}"/>
              </a:ext>
            </a:extLst>
          </p:cNvPr>
          <p:cNvSpPr>
            <a:spLocks noGrp="1"/>
          </p:cNvSpPr>
          <p:nvPr>
            <p:ph idx="1"/>
          </p:nvPr>
        </p:nvSpPr>
        <p:spPr/>
        <p:txBody>
          <a:bodyPr>
            <a:normAutofit lnSpcReduction="10000"/>
          </a:bodyPr>
          <a:lstStyle/>
          <a:p>
            <a:pPr marL="0" marR="0" indent="0" algn="just">
              <a:lnSpc>
                <a:spcPct val="200000"/>
              </a:lnSpc>
              <a:spcBef>
                <a:spcPts val="0"/>
              </a:spcBef>
              <a:spcAft>
                <a:spcPts val="0"/>
              </a:spcAft>
              <a:buNone/>
            </a:pPr>
            <a:r>
              <a:rPr lang="en-US" sz="1800" dirty="0">
                <a:effectLst/>
                <a:latin typeface="Times" panose="02020603050405020304" pitchFamily="18" charset="0"/>
                <a:ea typeface="Times" panose="02020603050405020304" pitchFamily="18" charset="0"/>
              </a:rPr>
              <a:t>The functional requirements of the Ticketing Tool would be as follows:</a:t>
            </a:r>
            <a:endParaRPr lang="en-US" sz="1800" dirty="0">
              <a:effectLst/>
              <a:latin typeface="Arial" panose="020B0604020202020204" pitchFamily="34" charset="0"/>
              <a:ea typeface="Arial" panose="020B0604020202020204" pitchFamily="34" charset="0"/>
            </a:endParaRPr>
          </a:p>
          <a:p>
            <a:pPr marL="342900" marR="0" lvl="0" indent="-342900" algn="just">
              <a:lnSpc>
                <a:spcPct val="200000"/>
              </a:lnSpc>
              <a:spcBef>
                <a:spcPts val="0"/>
              </a:spcBef>
              <a:spcAft>
                <a:spcPts val="0"/>
              </a:spcAft>
              <a:buFont typeface="+mj-lt"/>
              <a:buAutoNum type="arabicPeriod"/>
            </a:pPr>
            <a:r>
              <a:rPr lang="en-US" sz="1800" b="1" u="none" strike="noStrike" dirty="0">
                <a:effectLst/>
                <a:latin typeface="Times" panose="02020603050405020304" pitchFamily="18" charset="0"/>
                <a:ea typeface="Times" panose="02020603050405020304" pitchFamily="18" charset="0"/>
              </a:rPr>
              <a:t>Authentication Module:</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panose="02020603050405020304" pitchFamily="18" charset="0"/>
                <a:ea typeface="Times" panose="02020603050405020304" pitchFamily="18" charset="0"/>
              </a:rPr>
              <a:t>The module simply allows users to be signed by the system and therefore able to login and access the dashboard. The dashboard is where an authenticated user heads to perform most tasks regarding ticketing.</a:t>
            </a:r>
            <a:endParaRPr lang="en-US" sz="1800" dirty="0">
              <a:effectLst/>
              <a:latin typeface="Arial" panose="020B0604020202020204" pitchFamily="34" charset="0"/>
              <a:ea typeface="Arial" panose="020B0604020202020204" pitchFamily="34" charset="0"/>
            </a:endParaRPr>
          </a:p>
          <a:p>
            <a:pPr marL="0" marR="0" lvl="0" indent="0" algn="just">
              <a:lnSpc>
                <a:spcPct val="200000"/>
              </a:lnSpc>
              <a:spcBef>
                <a:spcPts val="0"/>
              </a:spcBef>
              <a:spcAft>
                <a:spcPts val="0"/>
              </a:spcAft>
              <a:buNone/>
            </a:pPr>
            <a:r>
              <a:rPr lang="en-US" sz="1800" b="1" u="none" strike="noStrike" dirty="0">
                <a:effectLst/>
                <a:latin typeface="Times" panose="02020603050405020304" pitchFamily="18" charset="0"/>
                <a:ea typeface="Times" panose="02020603050405020304" pitchFamily="18" charset="0"/>
              </a:rPr>
              <a:t>2.   Creating Events:</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panose="02020603050405020304" pitchFamily="18" charset="0"/>
                <a:ea typeface="Times" panose="02020603050405020304" pitchFamily="18" charset="0"/>
              </a:rPr>
              <a:t>This module consists of one task which acts as the main driver of issuing tickets and so on and so forth. Creating events and assigning status for each event helps the ticket issuer to issue the tickets in respect to the Event chosen.</a:t>
            </a:r>
            <a:endParaRPr lang="en-US" sz="1800" dirty="0">
              <a:effectLst/>
              <a:latin typeface="Arial" panose="020B0604020202020204" pitchFamily="34" charset="0"/>
              <a:ea typeface="Arial" panose="020B0604020202020204" pitchFamily="34"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2105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E318A-5F6C-BE05-629F-5DE62D3DAE42}"/>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Functional Requirements(</a:t>
            </a:r>
            <a:r>
              <a:rPr lang="en-US" b="1" u="sng" dirty="0" err="1">
                <a:latin typeface="Times New Roman" panose="02020603050405020304" pitchFamily="18" charset="0"/>
                <a:cs typeface="Times New Roman" panose="02020603050405020304" pitchFamily="18" charset="0"/>
              </a:rPr>
              <a:t>Cont</a:t>
            </a:r>
            <a:r>
              <a:rPr lang="en-US" b="1" u="sng"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AB3D8991-0EFE-CFA9-12A6-C6B421756715}"/>
              </a:ext>
            </a:extLst>
          </p:cNvPr>
          <p:cNvSpPr>
            <a:spLocks noGrp="1"/>
          </p:cNvSpPr>
          <p:nvPr>
            <p:ph idx="1"/>
          </p:nvPr>
        </p:nvSpPr>
        <p:spPr/>
        <p:txBody>
          <a:bodyPr>
            <a:normAutofit lnSpcReduction="10000"/>
          </a:bodyPr>
          <a:lstStyle/>
          <a:p>
            <a:pPr marL="0" marR="0" lvl="0" indent="0" algn="just">
              <a:lnSpc>
                <a:spcPct val="200000"/>
              </a:lnSpc>
              <a:spcBef>
                <a:spcPts val="0"/>
              </a:spcBef>
              <a:spcAft>
                <a:spcPts val="0"/>
              </a:spcAft>
              <a:buNone/>
            </a:pPr>
            <a:r>
              <a:rPr lang="en-US" sz="1800" b="1" dirty="0">
                <a:latin typeface="Times" panose="02020603050405020304" pitchFamily="18" charset="0"/>
                <a:ea typeface="Times" panose="02020603050405020304" pitchFamily="18" charset="0"/>
              </a:rPr>
              <a:t>3.   </a:t>
            </a:r>
            <a:r>
              <a:rPr lang="en-US" sz="1800" b="1" u="none" strike="noStrike" dirty="0">
                <a:effectLst/>
                <a:latin typeface="Times" panose="02020603050405020304" pitchFamily="18" charset="0"/>
                <a:ea typeface="Times" panose="02020603050405020304" pitchFamily="18" charset="0"/>
              </a:rPr>
              <a:t>Event management module:</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panose="02020603050405020304" pitchFamily="18" charset="0"/>
                <a:ea typeface="Times" panose="02020603050405020304" pitchFamily="18" charset="0"/>
              </a:rPr>
              <a:t>Simply conforms to the management of events, updating events details, deleting and changing of an event detail like, theme, dates and several other details and event was created initially to having.</a:t>
            </a:r>
            <a:endParaRPr lang="en-US" sz="1800" dirty="0">
              <a:effectLst/>
              <a:latin typeface="Arial" panose="020B0604020202020204" pitchFamily="34" charset="0"/>
              <a:ea typeface="Arial" panose="020B0604020202020204" pitchFamily="34" charset="0"/>
            </a:endParaRPr>
          </a:p>
          <a:p>
            <a:pPr marL="0" marR="0" lvl="0" indent="0" algn="just">
              <a:lnSpc>
                <a:spcPct val="200000"/>
              </a:lnSpc>
              <a:spcBef>
                <a:spcPts val="0"/>
              </a:spcBef>
              <a:spcAft>
                <a:spcPts val="0"/>
              </a:spcAft>
              <a:buNone/>
            </a:pPr>
            <a:r>
              <a:rPr lang="en-US" sz="1800" b="1" u="none" strike="noStrike" dirty="0">
                <a:effectLst/>
                <a:latin typeface="Times" panose="02020603050405020304" pitchFamily="18" charset="0"/>
                <a:ea typeface="Times" panose="02020603050405020304" pitchFamily="18" charset="0"/>
              </a:rPr>
              <a:t>4.   Creating Tickets:</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panose="02020603050405020304" pitchFamily="18" charset="0"/>
                <a:ea typeface="Times" panose="02020603050405020304" pitchFamily="18" charset="0"/>
              </a:rPr>
              <a:t>Well, creating tickets and issuing tickets is the main agenda and crux of the program output. Creating tickets simply handles the creation of tickets in respect to an event created, chosen and active.</a:t>
            </a:r>
            <a:endParaRPr lang="en-US" sz="1800"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panose="02020603050405020304" pitchFamily="18" charset="0"/>
                <a:ea typeface="Times" panose="02020603050405020304" pitchFamily="18" charset="0"/>
              </a:rPr>
              <a:t>Creation of tickets will be categorized in respect to events. With that said, each event will have its own tickets, so on and so forth.</a:t>
            </a:r>
            <a:endParaRPr lang="en-US" sz="1800" dirty="0">
              <a:effectLst/>
              <a:latin typeface="Arial" panose="020B0604020202020204" pitchFamily="34" charset="0"/>
              <a:ea typeface="Arial" panose="020B0604020202020204" pitchFamily="34"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1404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5F260-D038-EC2A-380E-65C5B1F65E45}"/>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Functional Requirements(</a:t>
            </a:r>
            <a:r>
              <a:rPr lang="en-US" b="1" u="sng" dirty="0" err="1">
                <a:latin typeface="Times New Roman" panose="02020603050405020304" pitchFamily="18" charset="0"/>
                <a:cs typeface="Times New Roman" panose="02020603050405020304" pitchFamily="18" charset="0"/>
              </a:rPr>
              <a:t>Cont</a:t>
            </a:r>
            <a:r>
              <a:rPr lang="en-US" b="1" u="sng" dirty="0">
                <a:latin typeface="Times New Roman" panose="02020603050405020304" pitchFamily="18" charset="0"/>
                <a:cs typeface="Times New Roman" panose="02020603050405020304" pitchFamily="18" charset="0"/>
              </a:rPr>
              <a:t>…)</a:t>
            </a:r>
            <a:endParaRPr lang="en-US" dirty="0"/>
          </a:p>
        </p:txBody>
      </p:sp>
      <p:sp>
        <p:nvSpPr>
          <p:cNvPr id="3" name="Content Placeholder 2">
            <a:extLst>
              <a:ext uri="{FF2B5EF4-FFF2-40B4-BE49-F238E27FC236}">
                <a16:creationId xmlns:a16="http://schemas.microsoft.com/office/drawing/2014/main" id="{71D4E92B-C81D-768B-A74B-1123863E1089}"/>
              </a:ext>
            </a:extLst>
          </p:cNvPr>
          <p:cNvSpPr>
            <a:spLocks noGrp="1"/>
          </p:cNvSpPr>
          <p:nvPr>
            <p:ph idx="1"/>
          </p:nvPr>
        </p:nvSpPr>
        <p:spPr/>
        <p:txBody>
          <a:bodyPr>
            <a:normAutofit fontScale="85000" lnSpcReduction="20000"/>
          </a:bodyPr>
          <a:lstStyle/>
          <a:p>
            <a:pPr marL="0" marR="0" lvl="0" indent="0" algn="just">
              <a:lnSpc>
                <a:spcPct val="200000"/>
              </a:lnSpc>
              <a:spcBef>
                <a:spcPts val="0"/>
              </a:spcBef>
              <a:spcAft>
                <a:spcPts val="0"/>
              </a:spcAft>
              <a:buNone/>
            </a:pPr>
            <a:r>
              <a:rPr lang="en-US" sz="1800" b="1" u="none" strike="noStrike" dirty="0">
                <a:effectLst/>
                <a:latin typeface="Times New Roman" panose="02020603050405020304" pitchFamily="18" charset="0"/>
                <a:ea typeface="Times" panose="02020603050405020304" pitchFamily="18" charset="0"/>
              </a:rPr>
              <a:t>5.    Management of tickets:</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New Roman" panose="02020603050405020304" pitchFamily="18" charset="0"/>
                <a:ea typeface="Times" panose="02020603050405020304" pitchFamily="18" charset="0"/>
              </a:rPr>
              <a:t>This module will have to deal with management of tickets as well as deletion, updating and selling of the tickets to clients. When selling a ticket, One has to pay, to receive a ticket via email.</a:t>
            </a:r>
            <a:endParaRPr lang="en-US" sz="1800" dirty="0">
              <a:effectLst/>
              <a:latin typeface="Arial" panose="020B0604020202020204" pitchFamily="34" charset="0"/>
              <a:ea typeface="Arial" panose="020B0604020202020204" pitchFamily="34" charset="0"/>
            </a:endParaRPr>
          </a:p>
          <a:p>
            <a:pPr marL="0" marR="0" lvl="0" indent="0" algn="just">
              <a:lnSpc>
                <a:spcPct val="200000"/>
              </a:lnSpc>
              <a:spcBef>
                <a:spcPts val="0"/>
              </a:spcBef>
              <a:spcAft>
                <a:spcPts val="0"/>
              </a:spcAft>
              <a:buNone/>
            </a:pPr>
            <a:r>
              <a:rPr lang="en-US" sz="1800" b="1" u="none" strike="noStrike" dirty="0">
                <a:effectLst/>
                <a:latin typeface="Times New Roman" panose="02020603050405020304" pitchFamily="18" charset="0"/>
                <a:ea typeface="Times" panose="02020603050405020304" pitchFamily="18" charset="0"/>
              </a:rPr>
              <a:t>6.    Users Management:</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New Roman" panose="02020603050405020304" pitchFamily="18" charset="0"/>
                <a:ea typeface="Times" panose="02020603050405020304" pitchFamily="18" charset="0"/>
              </a:rPr>
              <a:t>This is the user’s management module. System users, client users and Administration is done by this module. Users Permissions grants should be done by the administrator of the system. The system will have a super administrator, who holds all the administration rights and controls everything that system is expected to do.</a:t>
            </a:r>
            <a:endParaRPr lang="en-US" sz="1800" dirty="0">
              <a:effectLst/>
              <a:latin typeface="Arial" panose="020B0604020202020204" pitchFamily="34" charset="0"/>
              <a:ea typeface="Arial" panose="020B0604020202020204" pitchFamily="34" charset="0"/>
            </a:endParaRPr>
          </a:p>
          <a:p>
            <a:pPr marL="0" marR="0" lvl="0" indent="0" algn="just">
              <a:lnSpc>
                <a:spcPct val="200000"/>
              </a:lnSpc>
              <a:spcBef>
                <a:spcPts val="0"/>
              </a:spcBef>
              <a:spcAft>
                <a:spcPts val="0"/>
              </a:spcAft>
              <a:buNone/>
            </a:pPr>
            <a:r>
              <a:rPr lang="en-US" sz="1800" b="1" u="none" strike="noStrike" dirty="0">
                <a:effectLst/>
                <a:latin typeface="Times New Roman" panose="02020603050405020304" pitchFamily="18" charset="0"/>
                <a:ea typeface="Times" panose="02020603050405020304" pitchFamily="18" charset="0"/>
              </a:rPr>
              <a:t>7.    Settings Module:</a:t>
            </a:r>
            <a:endParaRPr lang="en-US" sz="1800" u="none" strike="noStrike" dirty="0">
              <a:effectLst/>
              <a:latin typeface="Arial" panose="020B0604020202020204" pitchFamily="34" charset="0"/>
              <a:ea typeface="Arial" panose="020B0604020202020204" pitchFamily="34" charset="0"/>
            </a:endParaRPr>
          </a:p>
          <a:p>
            <a:pPr marL="457200" marR="0" algn="just">
              <a:lnSpc>
                <a:spcPct val="200000"/>
              </a:lnSpc>
              <a:spcBef>
                <a:spcPts val="0"/>
              </a:spcBef>
              <a:spcAft>
                <a:spcPts val="0"/>
              </a:spcAft>
            </a:pPr>
            <a:r>
              <a:rPr lang="en-US" sz="1800" dirty="0">
                <a:effectLst/>
                <a:latin typeface="Times New Roman" panose="02020603050405020304" pitchFamily="18" charset="0"/>
                <a:ea typeface="Times" panose="02020603050405020304" pitchFamily="18" charset="0"/>
              </a:rPr>
              <a:t>This consists of a settings area. Administers are expected to use settings to manipulate and take care of system functionalities, so on and so forth. With settings, the user can do the needful without interfering with the real data on database and storage spaces.</a:t>
            </a:r>
            <a:endParaRPr lang="en-US" sz="1800" dirty="0">
              <a:effectLst/>
              <a:latin typeface="Arial" panose="020B0604020202020204" pitchFamily="34" charset="0"/>
              <a:ea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3402236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5D890-C81C-401F-AB4E-26A8FBF1D821}"/>
              </a:ext>
            </a:extLst>
          </p:cNvPr>
          <p:cNvSpPr>
            <a:spLocks noGrp="1"/>
          </p:cNvSpPr>
          <p:nvPr>
            <p:ph type="title"/>
          </p:nvPr>
        </p:nvSpPr>
        <p:spPr>
          <a:xfrm>
            <a:off x="838200" y="365125"/>
            <a:ext cx="10515600" cy="781095"/>
          </a:xfrm>
        </p:spPr>
        <p:txBody>
          <a:bodyPr/>
          <a:lstStyle/>
          <a:p>
            <a:r>
              <a:rPr lang="en-US" b="1" u="sng" dirty="0">
                <a:latin typeface="Times New Roman" panose="02020603050405020304" pitchFamily="18" charset="0"/>
                <a:cs typeface="Times New Roman" panose="02020603050405020304" pitchFamily="18" charset="0"/>
              </a:rPr>
              <a:t>Design</a:t>
            </a:r>
          </a:p>
        </p:txBody>
      </p:sp>
      <p:sp>
        <p:nvSpPr>
          <p:cNvPr id="3" name="Content Placeholder 2">
            <a:extLst>
              <a:ext uri="{FF2B5EF4-FFF2-40B4-BE49-F238E27FC236}">
                <a16:creationId xmlns:a16="http://schemas.microsoft.com/office/drawing/2014/main" id="{3327F971-502E-4450-9F1D-EB38461604E0}"/>
              </a:ext>
            </a:extLst>
          </p:cNvPr>
          <p:cNvSpPr>
            <a:spLocks noGrp="1"/>
          </p:cNvSpPr>
          <p:nvPr>
            <p:ph idx="1"/>
          </p:nvPr>
        </p:nvSpPr>
        <p:spPr>
          <a:xfrm>
            <a:off x="838199" y="1146220"/>
            <a:ext cx="10830059" cy="5346655"/>
          </a:xfrm>
        </p:spPr>
        <p:txBody>
          <a:bodyPr>
            <a:noAutofit/>
          </a:bodyPr>
          <a:lstStyle/>
          <a:p>
            <a:pPr marL="228600" marR="0" algn="just"/>
            <a:r>
              <a:rPr lang="en-US" sz="1800" dirty="0">
                <a:effectLst/>
                <a:latin typeface="Times New Roman" panose="02020603050405020304" pitchFamily="18" charset="0"/>
                <a:ea typeface="Times New Roman" panose="02020603050405020304" pitchFamily="18" charset="0"/>
              </a:rPr>
              <a:t>All inbound IT-related requests from customers and other corporate divisions are handled using an IT ticketing Tool. Every support request will be turned into a separate ticket by its design, which also streamlines the support procedure through features like ticket management, enhanced collaboration, automation, and others.</a:t>
            </a:r>
          </a:p>
          <a:p>
            <a:pPr algn="just"/>
            <a:r>
              <a:rPr lang="en-US" sz="1800" dirty="0">
                <a:effectLst/>
                <a:latin typeface="Times New Roman" panose="02020603050405020304" pitchFamily="18" charset="0"/>
                <a:ea typeface="Times New Roman" panose="02020603050405020304" pitchFamily="18" charset="0"/>
              </a:rPr>
              <a:t>Here are some additional goals you can accomplish with powerful IT ticketing software:</a:t>
            </a:r>
          </a:p>
          <a:p>
            <a:pPr marL="0" marR="0" lvl="0" indent="0" algn="just">
              <a:buNone/>
            </a:pPr>
            <a:r>
              <a:rPr lang="en-US" sz="1800" dirty="0">
                <a:effectLst/>
                <a:latin typeface="Times New Roman" panose="02020603050405020304" pitchFamily="18" charset="0"/>
                <a:ea typeface="Times New Roman" panose="02020603050405020304" pitchFamily="18" charset="0"/>
              </a:rPr>
              <a:t>	Bring all your support inquiries from various channels together on one platform.</a:t>
            </a:r>
          </a:p>
          <a:p>
            <a:pPr marL="0" marR="0" lvl="0" indent="0" algn="just">
              <a:buNone/>
            </a:pPr>
            <a:r>
              <a:rPr lang="en-US" sz="1800" dirty="0">
                <a:effectLst/>
                <a:latin typeface="Times New Roman" panose="02020603050405020304" pitchFamily="18" charset="0"/>
                <a:ea typeface="Times New Roman" panose="02020603050405020304" pitchFamily="18" charset="0"/>
              </a:rPr>
              <a:t>	Consolidate various inboxes into a shared inbox that all your agents may access.</a:t>
            </a:r>
          </a:p>
          <a:p>
            <a:pPr marL="0" marR="0" lvl="0" indent="0" algn="just">
              <a:buNone/>
            </a:pPr>
            <a:r>
              <a:rPr lang="en-US" sz="1800" dirty="0">
                <a:latin typeface="Times New Roman" panose="02020603050405020304" pitchFamily="18" charset="0"/>
                <a:ea typeface="Times New Roman" panose="02020603050405020304" pitchFamily="18" charset="0"/>
              </a:rPr>
              <a:t>	S</a:t>
            </a:r>
            <a:r>
              <a:rPr lang="en-US" sz="1800" dirty="0">
                <a:effectLst/>
                <a:latin typeface="Times New Roman" panose="02020603050405020304" pitchFamily="18" charset="0"/>
                <a:ea typeface="Times New Roman" panose="02020603050405020304" pitchFamily="18" charset="0"/>
              </a:rPr>
              <a:t>pecialists with tickets and monitor their progress.</a:t>
            </a:r>
          </a:p>
          <a:p>
            <a:pPr marL="0" marR="0" lvl="0" indent="0" algn="just">
              <a:buNone/>
            </a:pPr>
            <a:r>
              <a:rPr lang="en-US" sz="1800" dirty="0">
                <a:effectLst/>
                <a:latin typeface="Times New Roman" panose="02020603050405020304" pitchFamily="18" charset="0"/>
                <a:ea typeface="Times New Roman" panose="02020603050405020304" pitchFamily="18" charset="0"/>
              </a:rPr>
              <a:t>	Track and evaluate important support metrics.</a:t>
            </a:r>
          </a:p>
          <a:p>
            <a:pPr marL="0" marR="0" lvl="0" indent="0" algn="just">
              <a:buNone/>
            </a:pPr>
            <a:r>
              <a:rPr lang="en-US" sz="1800" dirty="0">
                <a:effectLst/>
                <a:latin typeface="Times New Roman" panose="02020603050405020304" pitchFamily="18" charset="0"/>
                <a:ea typeface="Times New Roman" panose="02020603050405020304" pitchFamily="18" charset="0"/>
              </a:rPr>
              <a:t>	Obtain customer feedback to enhance your IT support procedures.</a:t>
            </a:r>
            <a:endParaRPr lang="en-US" sz="1800" dirty="0">
              <a:latin typeface="Times New Roman" panose="02020603050405020304" pitchFamily="18" charset="0"/>
              <a:ea typeface="Times New Roman" panose="02020603050405020304" pitchFamily="18" charset="0"/>
            </a:endParaRPr>
          </a:p>
          <a:p>
            <a:pPr marL="0" marR="0" lvl="0" indent="0" algn="just">
              <a:buNone/>
            </a:pPr>
            <a:r>
              <a:rPr lang="en-US" sz="1800" b="1" dirty="0">
                <a:effectLst/>
                <a:latin typeface="Times New Roman" panose="02020603050405020304" pitchFamily="18" charset="0"/>
                <a:ea typeface="Times New Roman" panose="02020603050405020304" pitchFamily="18" charset="0"/>
              </a:rPr>
              <a:t>1.1 Goals and objectives</a:t>
            </a:r>
            <a:endParaRPr lang="en-US" sz="1800" dirty="0">
              <a:effectLst/>
              <a:latin typeface="Times New Roman" panose="02020603050405020304" pitchFamily="18" charset="0"/>
              <a:ea typeface="Times New Roman" panose="02020603050405020304" pitchFamily="18" charset="0"/>
            </a:endParaRPr>
          </a:p>
          <a:p>
            <a:pPr marL="457200" marR="0" algn="just"/>
            <a:r>
              <a:rPr lang="en-US" sz="1800" dirty="0">
                <a:effectLst/>
                <a:latin typeface="Times New Roman" panose="02020603050405020304" pitchFamily="18" charset="0"/>
                <a:ea typeface="Times New Roman" panose="02020603050405020304" pitchFamily="18" charset="0"/>
              </a:rPr>
              <a:t>Now, the main objective of every service provider would be to provide trustworthy support to end users, which is essentially the same. However, you can set more focused objectives, such maximizing first-contact resolutions or reducing the time it takes your support staff to respond to a problem.</a:t>
            </a:r>
          </a:p>
          <a:p>
            <a:pPr marL="457200" marR="0" algn="just"/>
            <a:r>
              <a:rPr lang="en-US" sz="1800" dirty="0">
                <a:effectLst/>
                <a:latin typeface="Times New Roman" panose="02020603050405020304" pitchFamily="18" charset="0"/>
                <a:ea typeface="Times New Roman" panose="02020603050405020304" pitchFamily="18" charset="0"/>
              </a:rPr>
              <a:t>Once your objectives are clear, you may create a strategy to accomplish them. To ensure that everyone is on the same page, it is also crucial to write down and discuss these goals with the relevant team members.</a:t>
            </a:r>
          </a:p>
          <a:p>
            <a:pPr marL="0" marR="0" lvl="0" indent="0" algn="just">
              <a:buNone/>
            </a:pP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74620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76838-6B06-4845-6D61-C14511B9A58D}"/>
              </a:ext>
            </a:extLst>
          </p:cNvPr>
          <p:cNvSpPr>
            <a:spLocks noGrp="1"/>
          </p:cNvSpPr>
          <p:nvPr>
            <p:ph type="title"/>
          </p:nvPr>
        </p:nvSpPr>
        <p:spPr/>
        <p:txBody>
          <a:bodyPr>
            <a:normAutofit/>
          </a:bodyPr>
          <a:lstStyle/>
          <a:p>
            <a:r>
              <a:rPr lang="en-US" b="1" u="sng" dirty="0">
                <a:effectLst/>
                <a:latin typeface="Times New Roman" panose="02020603050405020304" pitchFamily="18" charset="0"/>
                <a:ea typeface="Calibri" panose="020F0502020204030204" pitchFamily="34" charset="0"/>
                <a:cs typeface="Times New Roman" panose="02020603050405020304" pitchFamily="18" charset="0"/>
              </a:rPr>
              <a:t>Data design and Database description</a:t>
            </a:r>
            <a:endParaRPr lang="en-US"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36ABB0-93DB-2389-736E-EC9556AA11FE}"/>
              </a:ext>
            </a:extLst>
          </p:cNvPr>
          <p:cNvSpPr>
            <a:spLocks noGrp="1"/>
          </p:cNvSpPr>
          <p:nvPr>
            <p:ph idx="1"/>
          </p:nvPr>
        </p:nvSpPr>
        <p:spPr/>
        <p:txBody>
          <a:bodyPr/>
          <a:lstStyle/>
          <a:p>
            <a:pPr marL="0" marR="0" indent="0" algn="just">
              <a:buNone/>
            </a:pPr>
            <a:r>
              <a:rPr lang="en-US" sz="1800" dirty="0">
                <a:effectLst/>
                <a:latin typeface="Times New Roman" panose="02020603050405020304" pitchFamily="18" charset="0"/>
                <a:ea typeface="Times New Roman" panose="02020603050405020304" pitchFamily="18" charset="0"/>
              </a:rPr>
              <a:t>phpMyAdmin a utility used to manage the administration of MySQL server where all application data is stored for you have to open phpMyAdmin portal from following link: </a:t>
            </a:r>
            <a:r>
              <a:rPr lang="en-US" sz="1800" u="sng" dirty="0">
                <a:solidFill>
                  <a:srgbClr val="0563C1"/>
                </a:solidFill>
                <a:effectLst/>
                <a:latin typeface="Times New Roman" panose="02020603050405020304" pitchFamily="18" charset="0"/>
                <a:ea typeface="Times New Roman" panose="02020603050405020304" pitchFamily="18" charset="0"/>
                <a:hlinkClick r:id="rId2"/>
              </a:rPr>
              <a:t>http://127.0.0.1/phpmyadmin/index.php</a:t>
            </a:r>
            <a:endParaRPr lang="en-US" sz="1800" dirty="0">
              <a:effectLst/>
              <a:latin typeface="Times New Roman" panose="02020603050405020304" pitchFamily="18" charset="0"/>
              <a:ea typeface="Times New Roman" panose="02020603050405020304" pitchFamily="18" charset="0"/>
            </a:endParaRPr>
          </a:p>
          <a:p>
            <a:pPr marL="0" marR="0" indent="0" algn="just">
              <a:buNone/>
            </a:pPr>
            <a:r>
              <a:rPr lang="en-US" sz="1800" dirty="0">
                <a:effectLst/>
                <a:latin typeface="Times New Roman" panose="02020603050405020304" pitchFamily="18" charset="0"/>
                <a:ea typeface="Times New Roman" panose="02020603050405020304" pitchFamily="18" charset="0"/>
              </a:rPr>
              <a:t>After, we need to create a database in the portal:</a:t>
            </a:r>
          </a:p>
          <a:p>
            <a:pPr marL="0" marR="0" indent="0" algn="just">
              <a:buNone/>
            </a:pPr>
            <a:endParaRPr lang="en-US" sz="18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1FE7B47B-45CA-BE27-40B3-9C48CDB0A71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9362" y="2967355"/>
            <a:ext cx="5943600" cy="3344545"/>
          </a:xfrm>
          <a:prstGeom prst="rect">
            <a:avLst/>
          </a:prstGeom>
          <a:noFill/>
          <a:ln>
            <a:noFill/>
          </a:ln>
        </p:spPr>
      </p:pic>
    </p:spTree>
    <p:extLst>
      <p:ext uri="{BB962C8B-B14F-4D97-AF65-F5344CB8AC3E}">
        <p14:creationId xmlns:p14="http://schemas.microsoft.com/office/powerpoint/2010/main" val="2570610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06EE7625-B30D-2E98-D57C-BC8550106671}"/>
                  </a:ext>
                </a:extLst>
              </p14:cNvPr>
              <p14:cNvContentPartPr/>
              <p14:nvPr/>
            </p14:nvContentPartPr>
            <p14:xfrm>
              <a:off x="1923358" y="5054964"/>
              <a:ext cx="360" cy="360"/>
            </p14:xfrm>
          </p:contentPart>
        </mc:Choice>
        <mc:Fallback xmlns="">
          <p:pic>
            <p:nvPicPr>
              <p:cNvPr id="14" name="Ink 13">
                <a:extLst>
                  <a:ext uri="{FF2B5EF4-FFF2-40B4-BE49-F238E27FC236}">
                    <a16:creationId xmlns:a16="http://schemas.microsoft.com/office/drawing/2014/main" id="{06EE7625-B30D-2E98-D57C-BC8550106671}"/>
                  </a:ext>
                </a:extLst>
              </p:cNvPr>
              <p:cNvPicPr/>
              <p:nvPr/>
            </p:nvPicPr>
            <p:blipFill>
              <a:blip r:embed="rId3"/>
              <a:stretch>
                <a:fillRect/>
              </a:stretch>
            </p:blipFill>
            <p:spPr>
              <a:xfrm>
                <a:off x="1914718" y="504596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C935E610-72D4-E301-A03E-9B4479AFA430}"/>
                  </a:ext>
                </a:extLst>
              </p14:cNvPr>
              <p14:cNvContentPartPr/>
              <p14:nvPr/>
            </p14:nvContentPartPr>
            <p14:xfrm>
              <a:off x="7763638" y="2035644"/>
              <a:ext cx="360" cy="360"/>
            </p14:xfrm>
          </p:contentPart>
        </mc:Choice>
        <mc:Fallback xmlns="">
          <p:pic>
            <p:nvPicPr>
              <p:cNvPr id="15" name="Ink 14">
                <a:extLst>
                  <a:ext uri="{FF2B5EF4-FFF2-40B4-BE49-F238E27FC236}">
                    <a16:creationId xmlns:a16="http://schemas.microsoft.com/office/drawing/2014/main" id="{C935E610-72D4-E301-A03E-9B4479AFA430}"/>
                  </a:ext>
                </a:extLst>
              </p:cNvPr>
              <p:cNvPicPr/>
              <p:nvPr/>
            </p:nvPicPr>
            <p:blipFill>
              <a:blip r:embed="rId3"/>
              <a:stretch>
                <a:fillRect/>
              </a:stretch>
            </p:blipFill>
            <p:spPr>
              <a:xfrm>
                <a:off x="7754638" y="202700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4BE89D68-5D35-BF0D-D01A-B68EDE9E2F25}"/>
                  </a:ext>
                </a:extLst>
              </p14:cNvPr>
              <p14:cNvContentPartPr/>
              <p14:nvPr/>
            </p14:nvContentPartPr>
            <p14:xfrm>
              <a:off x="1147198" y="4269804"/>
              <a:ext cx="360" cy="360"/>
            </p14:xfrm>
          </p:contentPart>
        </mc:Choice>
        <mc:Fallback xmlns="">
          <p:pic>
            <p:nvPicPr>
              <p:cNvPr id="16" name="Ink 15">
                <a:extLst>
                  <a:ext uri="{FF2B5EF4-FFF2-40B4-BE49-F238E27FC236}">
                    <a16:creationId xmlns:a16="http://schemas.microsoft.com/office/drawing/2014/main" id="{4BE89D68-5D35-BF0D-D01A-B68EDE9E2F25}"/>
                  </a:ext>
                </a:extLst>
              </p:cNvPr>
              <p:cNvPicPr/>
              <p:nvPr/>
            </p:nvPicPr>
            <p:blipFill>
              <a:blip r:embed="rId3"/>
              <a:stretch>
                <a:fillRect/>
              </a:stretch>
            </p:blipFill>
            <p:spPr>
              <a:xfrm>
                <a:off x="1138198" y="426116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A63F1E7E-1305-33D7-1C54-0C00141D50EA}"/>
                  </a:ext>
                </a:extLst>
              </p14:cNvPr>
              <p14:cNvContentPartPr/>
              <p14:nvPr/>
            </p14:nvContentPartPr>
            <p14:xfrm>
              <a:off x="7686238" y="457044"/>
              <a:ext cx="360" cy="360"/>
            </p14:xfrm>
          </p:contentPart>
        </mc:Choice>
        <mc:Fallback xmlns="">
          <p:pic>
            <p:nvPicPr>
              <p:cNvPr id="17" name="Ink 16">
                <a:extLst>
                  <a:ext uri="{FF2B5EF4-FFF2-40B4-BE49-F238E27FC236}">
                    <a16:creationId xmlns:a16="http://schemas.microsoft.com/office/drawing/2014/main" id="{A63F1E7E-1305-33D7-1C54-0C00141D50EA}"/>
                  </a:ext>
                </a:extLst>
              </p:cNvPr>
              <p:cNvPicPr/>
              <p:nvPr/>
            </p:nvPicPr>
            <p:blipFill>
              <a:blip r:embed="rId3"/>
              <a:stretch>
                <a:fillRect/>
              </a:stretch>
            </p:blipFill>
            <p:spPr>
              <a:xfrm>
                <a:off x="7677238" y="448044"/>
                <a:ext cx="18000" cy="18000"/>
              </a:xfrm>
              <a:prstGeom prst="rect">
                <a:avLst/>
              </a:prstGeom>
            </p:spPr>
          </p:pic>
        </mc:Fallback>
      </mc:AlternateContent>
      <p:sp>
        <p:nvSpPr>
          <p:cNvPr id="19" name="Content Placeholder 18">
            <a:extLst>
              <a:ext uri="{FF2B5EF4-FFF2-40B4-BE49-F238E27FC236}">
                <a16:creationId xmlns:a16="http://schemas.microsoft.com/office/drawing/2014/main" id="{27727D15-7879-8287-55BF-BA6EA2FAFC22}"/>
              </a:ext>
            </a:extLst>
          </p:cNvPr>
          <p:cNvSpPr>
            <a:spLocks noGrp="1"/>
          </p:cNvSpPr>
          <p:nvPr>
            <p:ph sz="half" idx="1"/>
          </p:nvPr>
        </p:nvSpPr>
        <p:spPr>
          <a:xfrm>
            <a:off x="838200" y="681038"/>
            <a:ext cx="5181600" cy="5495925"/>
          </a:xfrm>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We need to create a database</a:t>
            </a:r>
          </a:p>
          <a:p>
            <a:r>
              <a:rPr lang="en-US" sz="1800" dirty="0">
                <a:effectLst/>
                <a:latin typeface="Calibri" panose="020F0502020204030204" pitchFamily="34" charset="0"/>
                <a:ea typeface="Calibri" panose="020F0502020204030204" pitchFamily="34" charset="0"/>
                <a:cs typeface="Times New Roman" panose="02020603050405020304" pitchFamily="18" charset="0"/>
              </a:rPr>
              <a:t>Give same database name mentioned in MySQL server</a:t>
            </a:r>
          </a:p>
        </p:txBody>
      </p:sp>
      <p:sp>
        <p:nvSpPr>
          <p:cNvPr id="20" name="Content Placeholder 19">
            <a:extLst>
              <a:ext uri="{FF2B5EF4-FFF2-40B4-BE49-F238E27FC236}">
                <a16:creationId xmlns:a16="http://schemas.microsoft.com/office/drawing/2014/main" id="{5891D332-0EC4-BBD5-A525-27CD962910CF}"/>
              </a:ext>
            </a:extLst>
          </p:cNvPr>
          <p:cNvSpPr>
            <a:spLocks noGrp="1"/>
          </p:cNvSpPr>
          <p:nvPr>
            <p:ph sz="half" idx="2"/>
          </p:nvPr>
        </p:nvSpPr>
        <p:spPr>
          <a:xfrm>
            <a:off x="6096000" y="1825625"/>
            <a:ext cx="5257800" cy="4351338"/>
          </a:xfrm>
        </p:spPr>
        <p:txBody>
          <a:bodyPr/>
          <a:lstStyle/>
          <a:p>
            <a:pPr marL="0" indent="0">
              <a:buNone/>
            </a:pPr>
            <a:r>
              <a:rPr lang="en-US" sz="1800" dirty="0">
                <a:effectLst/>
                <a:latin typeface="Times New Roman" panose="02020603050405020304" pitchFamily="18" charset="0"/>
                <a:ea typeface="Times New Roman" panose="02020603050405020304" pitchFamily="18" charset="0"/>
              </a:rPr>
              <a:t>Database has been created</a:t>
            </a:r>
          </a:p>
          <a:p>
            <a:pPr marL="0" indent="0">
              <a:buNone/>
            </a:pPr>
            <a:endParaRPr lang="en-US" sz="1800" dirty="0">
              <a:effectLst/>
              <a:latin typeface="Times New Roman" panose="02020603050405020304" pitchFamily="18" charset="0"/>
              <a:ea typeface="Times New Roman" panose="02020603050405020304" pitchFamily="18" charset="0"/>
            </a:endParaRPr>
          </a:p>
        </p:txBody>
      </p:sp>
      <p:pic>
        <p:nvPicPr>
          <p:cNvPr id="2" name="Picture 1">
            <a:extLst>
              <a:ext uri="{FF2B5EF4-FFF2-40B4-BE49-F238E27FC236}">
                <a16:creationId xmlns:a16="http://schemas.microsoft.com/office/drawing/2014/main" id="{9ECED727-57C9-FE1E-7FF7-DC1EAA258E71}"/>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9981" y="2832417"/>
            <a:ext cx="5943600" cy="3344545"/>
          </a:xfrm>
          <a:prstGeom prst="rect">
            <a:avLst/>
          </a:prstGeom>
          <a:noFill/>
          <a:ln>
            <a:noFill/>
          </a:ln>
        </p:spPr>
      </p:pic>
      <p:pic>
        <p:nvPicPr>
          <p:cNvPr id="3" name="Picture 2">
            <a:extLst>
              <a:ext uri="{FF2B5EF4-FFF2-40B4-BE49-F238E27FC236}">
                <a16:creationId xmlns:a16="http://schemas.microsoft.com/office/drawing/2014/main" id="{EFE420E7-87C0-58CF-85A0-C0C73043598F}"/>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48419" y="2246023"/>
            <a:ext cx="5943600" cy="3344545"/>
          </a:xfrm>
          <a:prstGeom prst="rect">
            <a:avLst/>
          </a:prstGeom>
          <a:noFill/>
          <a:ln>
            <a:noFill/>
          </a:ln>
        </p:spPr>
      </p:pic>
    </p:spTree>
    <p:extLst>
      <p:ext uri="{BB962C8B-B14F-4D97-AF65-F5344CB8AC3E}">
        <p14:creationId xmlns:p14="http://schemas.microsoft.com/office/powerpoint/2010/main" val="437126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13DF61C-9F6C-0877-4E39-DF45617A5FA0}"/>
              </a:ext>
            </a:extLst>
          </p:cNvPr>
          <p:cNvSpPr>
            <a:spLocks noGrp="1"/>
          </p:cNvSpPr>
          <p:nvPr>
            <p:ph type="body" sz="half" idx="2"/>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Once the database has been created now, we need to create tables, attributes for the tables and define the primary key, foreign key, and unique key for each table</a:t>
            </a:r>
            <a:endParaRPr lang="en-US" dirty="0"/>
          </a:p>
        </p:txBody>
      </p:sp>
      <p:sp>
        <p:nvSpPr>
          <p:cNvPr id="3" name="Picture Placeholder 2">
            <a:extLst>
              <a:ext uri="{FF2B5EF4-FFF2-40B4-BE49-F238E27FC236}">
                <a16:creationId xmlns:a16="http://schemas.microsoft.com/office/drawing/2014/main" id="{4E8782FF-EF84-EEE1-4E0E-D9A88C92EA46}"/>
              </a:ext>
            </a:extLst>
          </p:cNvPr>
          <p:cNvSpPr>
            <a:spLocks noGrp="1"/>
          </p:cNvSpPr>
          <p:nvPr>
            <p:ph type="pic" idx="1"/>
          </p:nvPr>
        </p:nvSpPr>
        <p:spPr/>
      </p:sp>
      <p:pic>
        <p:nvPicPr>
          <p:cNvPr id="4" name="Picture 3">
            <a:extLst>
              <a:ext uri="{FF2B5EF4-FFF2-40B4-BE49-F238E27FC236}">
                <a16:creationId xmlns:a16="http://schemas.microsoft.com/office/drawing/2014/main" id="{804D46F9-1BCE-5351-CAC6-75CA2FB0DAC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3187" y="996950"/>
            <a:ext cx="6272691" cy="4872038"/>
          </a:xfrm>
          <a:prstGeom prst="rect">
            <a:avLst/>
          </a:prstGeom>
          <a:noFill/>
          <a:ln>
            <a:noFill/>
          </a:ln>
        </p:spPr>
      </p:pic>
    </p:spTree>
    <p:extLst>
      <p:ext uri="{BB962C8B-B14F-4D97-AF65-F5344CB8AC3E}">
        <p14:creationId xmlns:p14="http://schemas.microsoft.com/office/powerpoint/2010/main" val="2078977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B415957-CA93-897D-E368-3348BEAB8498}"/>
              </a:ext>
            </a:extLst>
          </p:cNvPr>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Data structures</a:t>
            </a:r>
          </a:p>
        </p:txBody>
      </p:sp>
      <p:sp>
        <p:nvSpPr>
          <p:cNvPr id="8" name="Content Placeholder 7">
            <a:extLst>
              <a:ext uri="{FF2B5EF4-FFF2-40B4-BE49-F238E27FC236}">
                <a16:creationId xmlns:a16="http://schemas.microsoft.com/office/drawing/2014/main" id="{D85BBCFE-0D6A-0ABE-799A-7CF07B4DC039}"/>
              </a:ext>
            </a:extLst>
          </p:cNvPr>
          <p:cNvSpPr>
            <a:spLocks noGrp="1"/>
          </p:cNvSpPr>
          <p:nvPr>
            <p:ph idx="1"/>
          </p:nvPr>
        </p:nvSpPr>
        <p:spPr/>
        <p:txBody>
          <a:bodyPr>
            <a:normAutofit/>
          </a:bodyPr>
          <a:lstStyle/>
          <a:p>
            <a:r>
              <a:rPr lang="en-US" sz="2000" dirty="0">
                <a:effectLst/>
                <a:latin typeface="Times New Roman" panose="02020603050405020304" pitchFamily="18" charset="0"/>
                <a:ea typeface="Times New Roman" panose="02020603050405020304" pitchFamily="18" charset="0"/>
              </a:rPr>
              <a:t>To perform and store all essential data, we primarily employ Character and Integer data types. The character data type is used to store all string-formatted inputs. </a:t>
            </a:r>
          </a:p>
          <a:p>
            <a:r>
              <a:rPr lang="en-US" sz="2000" dirty="0">
                <a:effectLst/>
                <a:latin typeface="Times New Roman" panose="02020603050405020304" pitchFamily="18" charset="0"/>
                <a:ea typeface="Times New Roman" panose="02020603050405020304" pitchFamily="18" charset="0"/>
              </a:rPr>
              <a:t>And we are using datetime module which allows to track the ticket created by user like when it was created and when the ticket was solved. </a:t>
            </a:r>
          </a:p>
          <a:p>
            <a:r>
              <a:rPr lang="en-US" sz="2000" dirty="0">
                <a:effectLst/>
                <a:latin typeface="Times New Roman" panose="02020603050405020304" pitchFamily="18" charset="0"/>
                <a:ea typeface="Times New Roman" panose="02020603050405020304" pitchFamily="18" charset="0"/>
              </a:rPr>
              <a:t>Also, we used the </a:t>
            </a:r>
            <a:r>
              <a:rPr lang="en-US" sz="2000" dirty="0" err="1">
                <a:effectLst/>
                <a:latin typeface="Times New Roman" panose="02020603050405020304" pitchFamily="18" charset="0"/>
                <a:ea typeface="Times New Roman" panose="02020603050405020304" pitchFamily="18" charset="0"/>
              </a:rPr>
              <a:t>longtext</a:t>
            </a:r>
            <a:r>
              <a:rPr lang="en-US" sz="2000" dirty="0">
                <a:effectLst/>
                <a:latin typeface="Times New Roman" panose="02020603050405020304" pitchFamily="18" charset="0"/>
                <a:ea typeface="Times New Roman" panose="02020603050405020304" pitchFamily="18" charset="0"/>
              </a:rPr>
              <a:t> datatype for user message or description to state problem which the user is facing.</a:t>
            </a:r>
          </a:p>
        </p:txBody>
      </p:sp>
    </p:spTree>
    <p:extLst>
      <p:ext uri="{BB962C8B-B14F-4D97-AF65-F5344CB8AC3E}">
        <p14:creationId xmlns:p14="http://schemas.microsoft.com/office/powerpoint/2010/main" val="1133617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699E8F8-F7A1-A664-B978-96BE07151AFA}"/>
              </a:ext>
            </a:extLst>
          </p:cNvPr>
          <p:cNvSpPr>
            <a:spLocks noGrp="1"/>
          </p:cNvSpPr>
          <p:nvPr>
            <p:ph idx="1"/>
          </p:nvPr>
        </p:nvSpPr>
        <p:spPr>
          <a:xfrm>
            <a:off x="838200" y="517585"/>
            <a:ext cx="10515600" cy="5659378"/>
          </a:xfrm>
        </p:spPr>
        <p:txBody>
          <a:bodyPr/>
          <a:lstStyle/>
          <a:p>
            <a:pPr marL="0" indent="0">
              <a:buNone/>
            </a:pPr>
            <a:r>
              <a:rPr lang="en-US" sz="1800" dirty="0">
                <a:effectLst/>
                <a:latin typeface="Times New Roman" panose="02020603050405020304" pitchFamily="18" charset="0"/>
                <a:ea typeface="Times New Roman" panose="02020603050405020304" pitchFamily="18" charset="0"/>
              </a:rPr>
              <a:t>The Database schema as follows:</a:t>
            </a:r>
          </a:p>
          <a:p>
            <a:pPr marL="0" indent="0">
              <a:buNone/>
            </a:pPr>
            <a:endParaRPr lang="en-US" sz="1800" dirty="0">
              <a:effectLst/>
              <a:latin typeface="Times New Roman" panose="02020603050405020304" pitchFamily="18" charset="0"/>
              <a:ea typeface="Times New Roman" panose="02020603050405020304" pitchFamily="18" charset="0"/>
            </a:endParaRPr>
          </a:p>
          <a:p>
            <a:pPr marL="0" indent="0">
              <a:buNone/>
            </a:pPr>
            <a:endParaRPr lang="en-US" sz="1800" dirty="0">
              <a:effectLst/>
              <a:latin typeface="Times New Roman" panose="02020603050405020304" pitchFamily="18" charset="0"/>
              <a:ea typeface="Times New Roman" panose="02020603050405020304" pitchFamily="18" charset="0"/>
            </a:endParaRPr>
          </a:p>
        </p:txBody>
      </p:sp>
      <p:pic>
        <p:nvPicPr>
          <p:cNvPr id="2" name="Picture 1">
            <a:extLst>
              <a:ext uri="{FF2B5EF4-FFF2-40B4-BE49-F238E27FC236}">
                <a16:creationId xmlns:a16="http://schemas.microsoft.com/office/drawing/2014/main" id="{06377642-4462-FFD9-A748-DE670910E6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2550" y="1639569"/>
            <a:ext cx="9448799" cy="4700845"/>
          </a:xfrm>
          <a:prstGeom prst="rect">
            <a:avLst/>
          </a:prstGeom>
        </p:spPr>
      </p:pic>
    </p:spTree>
    <p:extLst>
      <p:ext uri="{BB962C8B-B14F-4D97-AF65-F5344CB8AC3E}">
        <p14:creationId xmlns:p14="http://schemas.microsoft.com/office/powerpoint/2010/main" val="2120225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AB75-3A9B-4B09-0A3B-C41E3D15483F}"/>
              </a:ext>
            </a:extLst>
          </p:cNvPr>
          <p:cNvSpPr>
            <a:spLocks noGrp="1"/>
          </p:cNvSpPr>
          <p:nvPr>
            <p:ph type="title"/>
          </p:nvPr>
        </p:nvSpPr>
        <p:spPr/>
        <p:txBody>
          <a:bodyPr>
            <a:normAutofit/>
          </a:bodyPr>
          <a:lstStyle/>
          <a:p>
            <a:r>
              <a:rPr lang="en-US" b="1" u="sng" dirty="0">
                <a:effectLst/>
                <a:latin typeface="Times New Roman" panose="02020603050405020304" pitchFamily="18" charset="0"/>
                <a:ea typeface="Calibri" panose="020F0502020204030204" pitchFamily="34" charset="0"/>
                <a:cs typeface="Times New Roman" panose="02020603050405020304" pitchFamily="18" charset="0"/>
              </a:rPr>
              <a:t>Architectural and component-level design</a:t>
            </a:r>
            <a:endParaRPr lang="en-US"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6A677A-1F14-2C9B-3A75-54F833D3C78E}"/>
              </a:ext>
            </a:extLst>
          </p:cNvPr>
          <p:cNvSpPr>
            <a:spLocks noGrp="1"/>
          </p:cNvSpPr>
          <p:nvPr>
            <p:ph idx="1"/>
          </p:nvPr>
        </p:nvSpPr>
        <p:spPr/>
        <p:txBody>
          <a:bodyPr/>
          <a:lstStyle/>
          <a:p>
            <a:pPr marL="0" indent="0">
              <a:buNone/>
            </a:pPr>
            <a:r>
              <a:rPr lang="en-US" sz="1800" dirty="0">
                <a:effectLst/>
                <a:latin typeface="Times New Roman" panose="02020603050405020304" pitchFamily="18" charset="0"/>
                <a:ea typeface="Times New Roman" panose="02020603050405020304" pitchFamily="18" charset="0"/>
              </a:rPr>
              <a:t>Clients are nothing but the end user who raise tickets once the ticket is raised which basically sends a request to different application server and the request is sent based on the incoming traffic to server for example, is a server is busy then it transfers the request to another server this technique is called </a:t>
            </a:r>
            <a:r>
              <a:rPr lang="en-US" sz="1800" b="1" dirty="0">
                <a:effectLst/>
                <a:latin typeface="Times New Roman" panose="02020603050405020304" pitchFamily="18" charset="0"/>
                <a:ea typeface="Times New Roman" panose="02020603050405020304" pitchFamily="18" charset="0"/>
              </a:rPr>
              <a:t>Load Balancing</a:t>
            </a:r>
            <a:r>
              <a:rPr lang="en-US" sz="1800" dirty="0">
                <a:effectLst/>
                <a:latin typeface="Times New Roman" panose="02020603050405020304" pitchFamily="18" charset="0"/>
                <a:ea typeface="Times New Roman" panose="02020603050405020304" pitchFamily="18" charset="0"/>
              </a:rPr>
              <a:t>.</a:t>
            </a:r>
          </a:p>
          <a:p>
            <a:pPr marL="0" indent="0">
              <a:buNone/>
            </a:pPr>
            <a:r>
              <a:rPr lang="en-US" sz="1800" b="1" dirty="0">
                <a:effectLst/>
                <a:latin typeface="Times New Roman" panose="02020603050405020304" pitchFamily="18" charset="0"/>
                <a:ea typeface="Times New Roman" panose="02020603050405020304" pitchFamily="18" charset="0"/>
              </a:rPr>
              <a:t>The framework of load balancer:</a:t>
            </a:r>
            <a:endParaRPr lang="en-US" sz="1800" dirty="0">
              <a:effectLst/>
              <a:latin typeface="Times New Roman" panose="02020603050405020304" pitchFamily="18" charset="0"/>
              <a:ea typeface="Times New Roman" panose="02020603050405020304" pitchFamily="18" charset="0"/>
            </a:endParaRPr>
          </a:p>
          <a:p>
            <a:pPr marL="0" indent="0">
              <a:buNone/>
            </a:pPr>
            <a:endParaRPr lang="en-US" sz="1800" dirty="0">
              <a:effectLst/>
              <a:latin typeface="Times New Roman" panose="02020603050405020304" pitchFamily="18" charset="0"/>
              <a:ea typeface="Times New Roman" panose="02020603050405020304" pitchFamily="18" charset="0"/>
            </a:endParaRPr>
          </a:p>
          <a:p>
            <a:pPr marL="0" indent="0">
              <a:buNone/>
            </a:pPr>
            <a:endParaRPr lang="en-US" dirty="0"/>
          </a:p>
        </p:txBody>
      </p:sp>
      <p:pic>
        <p:nvPicPr>
          <p:cNvPr id="8" name="Picture 7">
            <a:extLst>
              <a:ext uri="{FF2B5EF4-FFF2-40B4-BE49-F238E27FC236}">
                <a16:creationId xmlns:a16="http://schemas.microsoft.com/office/drawing/2014/main" id="{82DE2988-7F5E-C7AA-42B4-97DCD478415A}"/>
              </a:ext>
            </a:extLst>
          </p:cNvPr>
          <p:cNvPicPr>
            <a:picLocks noChangeAspect="1"/>
          </p:cNvPicPr>
          <p:nvPr/>
        </p:nvPicPr>
        <p:blipFill>
          <a:blip r:embed="rId2"/>
          <a:stretch>
            <a:fillRect/>
          </a:stretch>
        </p:blipFill>
        <p:spPr>
          <a:xfrm>
            <a:off x="3246036" y="3310309"/>
            <a:ext cx="4578493" cy="2462997"/>
          </a:xfrm>
          <a:prstGeom prst="rect">
            <a:avLst/>
          </a:prstGeom>
        </p:spPr>
      </p:pic>
    </p:spTree>
    <p:extLst>
      <p:ext uri="{BB962C8B-B14F-4D97-AF65-F5344CB8AC3E}">
        <p14:creationId xmlns:p14="http://schemas.microsoft.com/office/powerpoint/2010/main" val="1782213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1A66F1-F8FE-34E9-7E70-88AD71CADC79}"/>
              </a:ext>
            </a:extLst>
          </p:cNvPr>
          <p:cNvSpPr>
            <a:spLocks noGrp="1"/>
          </p:cNvSpPr>
          <p:nvPr>
            <p:ph idx="1"/>
          </p:nvPr>
        </p:nvSpPr>
        <p:spPr>
          <a:xfrm>
            <a:off x="838200" y="414068"/>
            <a:ext cx="10515600" cy="5745642"/>
          </a:xfrm>
        </p:spPr>
        <p:txBody>
          <a:bodyPr/>
          <a:lstStyle/>
          <a:p>
            <a:pPr marR="0" indent="0">
              <a:buNone/>
            </a:pPr>
            <a:r>
              <a:rPr lang="en-US" sz="1800" b="1" dirty="0">
                <a:effectLst/>
                <a:latin typeface="Times New Roman" panose="02020603050405020304" pitchFamily="18" charset="0"/>
                <a:ea typeface="Times New Roman" panose="02020603050405020304" pitchFamily="18" charset="0"/>
              </a:rPr>
              <a:t>Architecture diagrams:</a:t>
            </a:r>
            <a:endParaRPr lang="en-US" sz="1800" dirty="0">
              <a:effectLst/>
              <a:latin typeface="Times New Roman" panose="02020603050405020304" pitchFamily="18" charset="0"/>
              <a:ea typeface="Times New Roman" panose="02020603050405020304" pitchFamily="18" charset="0"/>
            </a:endParaRPr>
          </a:p>
          <a:p>
            <a:pPr marL="457200" marR="0" algn="just"/>
            <a:r>
              <a:rPr lang="en-US" sz="1800" dirty="0">
                <a:effectLst/>
                <a:latin typeface="Times New Roman" panose="02020603050405020304" pitchFamily="18" charset="0"/>
                <a:ea typeface="Times New Roman" panose="02020603050405020304" pitchFamily="18" charset="0"/>
              </a:rPr>
              <a:t>Clients are simply end users who raise tickets. When a ticket is raised, a request is sent to a different application server based on incoming traffic; for instance, if a server is busy, the request is transferred to another server.</a:t>
            </a:r>
          </a:p>
          <a:p>
            <a:pPr marL="0" indent="0">
              <a:buNone/>
            </a:pPr>
            <a:r>
              <a:rPr lang="en-US" dirty="0"/>
              <a:t>	</a:t>
            </a:r>
          </a:p>
        </p:txBody>
      </p:sp>
      <p:pic>
        <p:nvPicPr>
          <p:cNvPr id="4" name="Picture 3" descr="Diagram&#10;&#10;Description automatically generated">
            <a:extLst>
              <a:ext uri="{FF2B5EF4-FFF2-40B4-BE49-F238E27FC236}">
                <a16:creationId xmlns:a16="http://schemas.microsoft.com/office/drawing/2014/main" id="{9A898194-BF9D-5246-0C01-9FD29312D43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99205" y="1817053"/>
            <a:ext cx="5318916" cy="4359910"/>
          </a:xfrm>
          <a:prstGeom prst="rect">
            <a:avLst/>
          </a:prstGeom>
          <a:noFill/>
          <a:ln>
            <a:noFill/>
          </a:ln>
        </p:spPr>
      </p:pic>
    </p:spTree>
    <p:extLst>
      <p:ext uri="{BB962C8B-B14F-4D97-AF65-F5344CB8AC3E}">
        <p14:creationId xmlns:p14="http://schemas.microsoft.com/office/powerpoint/2010/main" val="3647705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AC6B1-A153-58A4-9366-5EEE6CF37B8B}"/>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Test Cases</a:t>
            </a:r>
            <a:endParaRPr lang="en-US" dirty="0"/>
          </a:p>
        </p:txBody>
      </p:sp>
      <p:graphicFrame>
        <p:nvGraphicFramePr>
          <p:cNvPr id="13" name="Content Placeholder 12">
            <a:extLst>
              <a:ext uri="{FF2B5EF4-FFF2-40B4-BE49-F238E27FC236}">
                <a16:creationId xmlns:a16="http://schemas.microsoft.com/office/drawing/2014/main" id="{203B2657-B4A3-AA72-874E-301604BDA225}"/>
              </a:ext>
            </a:extLst>
          </p:cNvPr>
          <p:cNvGraphicFramePr>
            <a:graphicFrameLocks noGrp="1"/>
          </p:cNvGraphicFramePr>
          <p:nvPr>
            <p:ph idx="1"/>
          </p:nvPr>
        </p:nvGraphicFramePr>
        <p:xfrm>
          <a:off x="3029902" y="2995454"/>
          <a:ext cx="6132195" cy="2011680"/>
        </p:xfrm>
        <a:graphic>
          <a:graphicData uri="http://schemas.openxmlformats.org/drawingml/2006/table">
            <a:tbl>
              <a:tblPr firstRow="1" firstCol="1" bandRow="1">
                <a:tableStyleId>{5C22544A-7EE6-4342-B048-85BDC9FD1C3A}</a:tableStyleId>
              </a:tblPr>
              <a:tblGrid>
                <a:gridCol w="292735">
                  <a:extLst>
                    <a:ext uri="{9D8B030D-6E8A-4147-A177-3AD203B41FA5}">
                      <a16:colId xmlns:a16="http://schemas.microsoft.com/office/drawing/2014/main" val="3883293718"/>
                    </a:ext>
                  </a:extLst>
                </a:gridCol>
                <a:gridCol w="988695">
                  <a:extLst>
                    <a:ext uri="{9D8B030D-6E8A-4147-A177-3AD203B41FA5}">
                      <a16:colId xmlns:a16="http://schemas.microsoft.com/office/drawing/2014/main" val="3027552390"/>
                    </a:ext>
                  </a:extLst>
                </a:gridCol>
                <a:gridCol w="1044575">
                  <a:extLst>
                    <a:ext uri="{9D8B030D-6E8A-4147-A177-3AD203B41FA5}">
                      <a16:colId xmlns:a16="http://schemas.microsoft.com/office/drawing/2014/main" val="3203736379"/>
                    </a:ext>
                  </a:extLst>
                </a:gridCol>
                <a:gridCol w="1209040">
                  <a:extLst>
                    <a:ext uri="{9D8B030D-6E8A-4147-A177-3AD203B41FA5}">
                      <a16:colId xmlns:a16="http://schemas.microsoft.com/office/drawing/2014/main" val="4168781068"/>
                    </a:ext>
                  </a:extLst>
                </a:gridCol>
                <a:gridCol w="1314450">
                  <a:extLst>
                    <a:ext uri="{9D8B030D-6E8A-4147-A177-3AD203B41FA5}">
                      <a16:colId xmlns:a16="http://schemas.microsoft.com/office/drawing/2014/main" val="3439389301"/>
                    </a:ext>
                  </a:extLst>
                </a:gridCol>
                <a:gridCol w="1282700">
                  <a:extLst>
                    <a:ext uri="{9D8B030D-6E8A-4147-A177-3AD203B41FA5}">
                      <a16:colId xmlns:a16="http://schemas.microsoft.com/office/drawing/2014/main" val="1238204734"/>
                    </a:ext>
                  </a:extLst>
                </a:gridCol>
              </a:tblGrid>
              <a:tr h="521970">
                <a:tc>
                  <a:txBody>
                    <a:bodyPr/>
                    <a:lstStyle/>
                    <a:p>
                      <a:pPr marL="0" marR="0" algn="l">
                        <a:spcBef>
                          <a:spcPts val="0"/>
                        </a:spcBef>
                        <a:spcAft>
                          <a:spcPts val="0"/>
                        </a:spcAft>
                      </a:pPr>
                      <a:r>
                        <a:rPr lang="en-US" sz="1100">
                          <a:effectLst/>
                        </a:rPr>
                        <a:t>6</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Managing raised ticket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Admin credentials, only admin have access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Solve the raised ticket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provide a solution for customers problems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Pass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11054704"/>
                  </a:ext>
                </a:extLst>
              </a:tr>
              <a:tr h="521970">
                <a:tc>
                  <a:txBody>
                    <a:bodyPr/>
                    <a:lstStyle/>
                    <a:p>
                      <a:pPr marL="0" marR="0" algn="l">
                        <a:spcBef>
                          <a:spcPts val="0"/>
                        </a:spcBef>
                        <a:spcAft>
                          <a:spcPts val="0"/>
                        </a:spcAft>
                      </a:pPr>
                      <a:r>
                        <a:rPr lang="en-US" sz="1100">
                          <a:effectLst/>
                        </a:rPr>
                        <a:t>7</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Event creation in the system</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describe the type of ticket raised </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create an event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This allows us to understand which type of ticket is raised</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Pass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46163230"/>
                  </a:ext>
                </a:extLst>
              </a:tr>
              <a:tr h="521970">
                <a:tc>
                  <a:txBody>
                    <a:bodyPr/>
                    <a:lstStyle/>
                    <a:p>
                      <a:pPr marL="0" marR="0" algn="l">
                        <a:spcBef>
                          <a:spcPts val="0"/>
                        </a:spcBef>
                        <a:spcAft>
                          <a:spcPts val="0"/>
                        </a:spcAft>
                      </a:pPr>
                      <a:r>
                        <a:rPr lang="en-US" sz="1100">
                          <a:effectLst/>
                        </a:rPr>
                        <a:t>8</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Manage events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Admin credentials, only admin have access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Successful creation of an event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create an event for frequently raised tickets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Fail</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4748147"/>
                  </a:ext>
                </a:extLst>
              </a:tr>
            </a:tbl>
          </a:graphicData>
        </a:graphic>
      </p:graphicFrame>
      <p:graphicFrame>
        <p:nvGraphicFramePr>
          <p:cNvPr id="14" name="Table 13">
            <a:extLst>
              <a:ext uri="{FF2B5EF4-FFF2-40B4-BE49-F238E27FC236}">
                <a16:creationId xmlns:a16="http://schemas.microsoft.com/office/drawing/2014/main" id="{8B557D80-5BC0-D36F-EFEB-F082790E989A}"/>
              </a:ext>
            </a:extLst>
          </p:cNvPr>
          <p:cNvGraphicFramePr>
            <a:graphicFrameLocks noGrp="1"/>
          </p:cNvGraphicFramePr>
          <p:nvPr/>
        </p:nvGraphicFramePr>
        <p:xfrm>
          <a:off x="3029902" y="2473484"/>
          <a:ext cx="6132195" cy="3055620"/>
        </p:xfrm>
        <a:graphic>
          <a:graphicData uri="http://schemas.openxmlformats.org/drawingml/2006/table">
            <a:tbl>
              <a:tblPr firstRow="1" firstCol="1" bandRow="1">
                <a:tableStyleId>{5C22544A-7EE6-4342-B048-85BDC9FD1C3A}</a:tableStyleId>
              </a:tblPr>
              <a:tblGrid>
                <a:gridCol w="292735">
                  <a:extLst>
                    <a:ext uri="{9D8B030D-6E8A-4147-A177-3AD203B41FA5}">
                      <a16:colId xmlns:a16="http://schemas.microsoft.com/office/drawing/2014/main" val="1928721444"/>
                    </a:ext>
                  </a:extLst>
                </a:gridCol>
                <a:gridCol w="988695">
                  <a:extLst>
                    <a:ext uri="{9D8B030D-6E8A-4147-A177-3AD203B41FA5}">
                      <a16:colId xmlns:a16="http://schemas.microsoft.com/office/drawing/2014/main" val="3830349898"/>
                    </a:ext>
                  </a:extLst>
                </a:gridCol>
                <a:gridCol w="1044575">
                  <a:extLst>
                    <a:ext uri="{9D8B030D-6E8A-4147-A177-3AD203B41FA5}">
                      <a16:colId xmlns:a16="http://schemas.microsoft.com/office/drawing/2014/main" val="3688808048"/>
                    </a:ext>
                  </a:extLst>
                </a:gridCol>
                <a:gridCol w="1209040">
                  <a:extLst>
                    <a:ext uri="{9D8B030D-6E8A-4147-A177-3AD203B41FA5}">
                      <a16:colId xmlns:a16="http://schemas.microsoft.com/office/drawing/2014/main" val="2985236135"/>
                    </a:ext>
                  </a:extLst>
                </a:gridCol>
                <a:gridCol w="1314450">
                  <a:extLst>
                    <a:ext uri="{9D8B030D-6E8A-4147-A177-3AD203B41FA5}">
                      <a16:colId xmlns:a16="http://schemas.microsoft.com/office/drawing/2014/main" val="3945695081"/>
                    </a:ext>
                  </a:extLst>
                </a:gridCol>
                <a:gridCol w="1282700">
                  <a:extLst>
                    <a:ext uri="{9D8B030D-6E8A-4147-A177-3AD203B41FA5}">
                      <a16:colId xmlns:a16="http://schemas.microsoft.com/office/drawing/2014/main" val="3594107494"/>
                    </a:ext>
                  </a:extLst>
                </a:gridCol>
              </a:tblGrid>
              <a:tr h="521970">
                <a:tc>
                  <a:txBody>
                    <a:bodyPr/>
                    <a:lstStyle/>
                    <a:p>
                      <a:pPr marL="0" marR="0" algn="l">
                        <a:spcBef>
                          <a:spcPts val="0"/>
                        </a:spcBef>
                        <a:spcAft>
                          <a:spcPts val="0"/>
                        </a:spcAft>
                      </a:pPr>
                      <a:r>
                        <a:rPr lang="en-US" sz="1100">
                          <a:effectLst/>
                        </a:rPr>
                        <a:t>ID</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Test Case Title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Test Input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Expected Output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Description</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Result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77053782"/>
                  </a:ext>
                </a:extLst>
              </a:tr>
              <a:tr h="521970">
                <a:tc>
                  <a:txBody>
                    <a:bodyPr/>
                    <a:lstStyle/>
                    <a:p>
                      <a:pPr marL="0" marR="0" algn="l">
                        <a:spcBef>
                          <a:spcPts val="0"/>
                        </a:spcBef>
                        <a:spcAft>
                          <a:spcPts val="0"/>
                        </a:spcAft>
                      </a:pPr>
                      <a:r>
                        <a:rPr lang="en-US" sz="1100">
                          <a:effectLst/>
                        </a:rPr>
                        <a:t>9</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Create clients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Required clients’ details name, address, contact info</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Successful registration of client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Create more clients for improved developments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Pass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6882287"/>
                  </a:ext>
                </a:extLst>
              </a:tr>
              <a:tr h="521970">
                <a:tc>
                  <a:txBody>
                    <a:bodyPr/>
                    <a:lstStyle/>
                    <a:p>
                      <a:pPr marL="0" marR="0" algn="l">
                        <a:spcBef>
                          <a:spcPts val="0"/>
                        </a:spcBef>
                        <a:spcAft>
                          <a:spcPts val="0"/>
                        </a:spcAft>
                      </a:pPr>
                      <a:r>
                        <a:rPr lang="en-US" sz="1100">
                          <a:effectLst/>
                        </a:rPr>
                        <a:t>10</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Manage clients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Admin credentials, only admin have access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manage the created clients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manage the created clients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Fail</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13261720"/>
                  </a:ext>
                </a:extLst>
              </a:tr>
              <a:tr h="521970">
                <a:tc>
                  <a:txBody>
                    <a:bodyPr/>
                    <a:lstStyle/>
                    <a:p>
                      <a:pPr marL="0" marR="0" algn="l">
                        <a:spcBef>
                          <a:spcPts val="0"/>
                        </a:spcBef>
                        <a:spcAft>
                          <a:spcPts val="0"/>
                        </a:spcAft>
                      </a:pPr>
                      <a:r>
                        <a:rPr lang="en-US" sz="1100">
                          <a:effectLst/>
                        </a:rPr>
                        <a:t>11</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User management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Admin credentials, only admin have access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manage user Grant Authentication type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Grant Authentication type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Pass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90469942"/>
                  </a:ext>
                </a:extLst>
              </a:tr>
              <a:tr h="521970">
                <a:tc>
                  <a:txBody>
                    <a:bodyPr/>
                    <a:lstStyle/>
                    <a:p>
                      <a:pPr marL="0" marR="0" algn="l">
                        <a:spcBef>
                          <a:spcPts val="0"/>
                        </a:spcBef>
                        <a:spcAft>
                          <a:spcPts val="0"/>
                        </a:spcAft>
                      </a:pPr>
                      <a:r>
                        <a:rPr lang="en-US" sz="1100">
                          <a:effectLst/>
                        </a:rPr>
                        <a:t>12</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Settings tab</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Login Id and Password of user</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Pops-up the settings page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Allows to edit the user credentials and details </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dirty="0">
                          <a:effectLst/>
                        </a:rPr>
                        <a:t>Fail</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51137797"/>
                  </a:ext>
                </a:extLst>
              </a:tr>
            </a:tbl>
          </a:graphicData>
        </a:graphic>
      </p:graphicFrame>
      <p:sp>
        <p:nvSpPr>
          <p:cNvPr id="15" name="Rectangle 2">
            <a:extLst>
              <a:ext uri="{FF2B5EF4-FFF2-40B4-BE49-F238E27FC236}">
                <a16:creationId xmlns:a16="http://schemas.microsoft.com/office/drawing/2014/main" id="{B9C4F11C-62FC-94A4-7430-2E4CF961D71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782965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F502F-8A50-49DA-9A25-A0DE0109E419}"/>
              </a:ext>
            </a:extLst>
          </p:cNvPr>
          <p:cNvSpPr>
            <a:spLocks noGrp="1"/>
          </p:cNvSpPr>
          <p:nvPr>
            <p:ph type="title"/>
          </p:nvPr>
        </p:nvSpPr>
        <p:spPr>
          <a:xfrm>
            <a:off x="838200" y="365125"/>
            <a:ext cx="10515600" cy="935641"/>
          </a:xfrm>
        </p:spPr>
        <p:txBody>
          <a:bodyPr/>
          <a:lstStyle/>
          <a:p>
            <a:r>
              <a:rPr lang="en-US" b="1" u="sng" dirty="0">
                <a:latin typeface="Times New Roman" panose="02020603050405020304" pitchFamily="18" charset="0"/>
                <a:cs typeface="Times New Roman" panose="02020603050405020304" pitchFamily="18" charset="0"/>
              </a:rPr>
              <a:t>Test Cases</a:t>
            </a:r>
          </a:p>
        </p:txBody>
      </p:sp>
      <p:graphicFrame>
        <p:nvGraphicFramePr>
          <p:cNvPr id="4" name="Content Placeholder 3">
            <a:extLst>
              <a:ext uri="{FF2B5EF4-FFF2-40B4-BE49-F238E27FC236}">
                <a16:creationId xmlns:a16="http://schemas.microsoft.com/office/drawing/2014/main" id="{2BE6F8B3-BF4F-865A-1DD2-14B822555085}"/>
              </a:ext>
            </a:extLst>
          </p:cNvPr>
          <p:cNvGraphicFramePr>
            <a:graphicFrameLocks noGrp="1"/>
          </p:cNvGraphicFramePr>
          <p:nvPr>
            <p:ph idx="1"/>
            <p:extLst>
              <p:ext uri="{D42A27DB-BD31-4B8C-83A1-F6EECF244321}">
                <p14:modId xmlns:p14="http://schemas.microsoft.com/office/powerpoint/2010/main" val="3865378887"/>
              </p:ext>
            </p:extLst>
          </p:nvPr>
        </p:nvGraphicFramePr>
        <p:xfrm>
          <a:off x="2406770" y="1291135"/>
          <a:ext cx="7021901" cy="4876800"/>
        </p:xfrm>
        <a:graphic>
          <a:graphicData uri="http://schemas.openxmlformats.org/drawingml/2006/table">
            <a:tbl>
              <a:tblPr firstRow="1" firstCol="1" bandRow="1">
                <a:tableStyleId>{5C22544A-7EE6-4342-B048-85BDC9FD1C3A}</a:tableStyleId>
              </a:tblPr>
              <a:tblGrid>
                <a:gridCol w="335207">
                  <a:extLst>
                    <a:ext uri="{9D8B030D-6E8A-4147-A177-3AD203B41FA5}">
                      <a16:colId xmlns:a16="http://schemas.microsoft.com/office/drawing/2014/main" val="2345684042"/>
                    </a:ext>
                  </a:extLst>
                </a:gridCol>
                <a:gridCol w="1132142">
                  <a:extLst>
                    <a:ext uri="{9D8B030D-6E8A-4147-A177-3AD203B41FA5}">
                      <a16:colId xmlns:a16="http://schemas.microsoft.com/office/drawing/2014/main" val="3561305643"/>
                    </a:ext>
                  </a:extLst>
                </a:gridCol>
                <a:gridCol w="1196130">
                  <a:extLst>
                    <a:ext uri="{9D8B030D-6E8A-4147-A177-3AD203B41FA5}">
                      <a16:colId xmlns:a16="http://schemas.microsoft.com/office/drawing/2014/main" val="3427580878"/>
                    </a:ext>
                  </a:extLst>
                </a:gridCol>
                <a:gridCol w="1384457">
                  <a:extLst>
                    <a:ext uri="{9D8B030D-6E8A-4147-A177-3AD203B41FA5}">
                      <a16:colId xmlns:a16="http://schemas.microsoft.com/office/drawing/2014/main" val="436133756"/>
                    </a:ext>
                  </a:extLst>
                </a:gridCol>
                <a:gridCol w="1505162">
                  <a:extLst>
                    <a:ext uri="{9D8B030D-6E8A-4147-A177-3AD203B41FA5}">
                      <a16:colId xmlns:a16="http://schemas.microsoft.com/office/drawing/2014/main" val="2005346818"/>
                    </a:ext>
                  </a:extLst>
                </a:gridCol>
                <a:gridCol w="1468803">
                  <a:extLst>
                    <a:ext uri="{9D8B030D-6E8A-4147-A177-3AD203B41FA5}">
                      <a16:colId xmlns:a16="http://schemas.microsoft.com/office/drawing/2014/main" val="2343262101"/>
                    </a:ext>
                  </a:extLst>
                </a:gridCol>
              </a:tblGrid>
              <a:tr h="467490">
                <a:tc>
                  <a:txBody>
                    <a:bodyPr/>
                    <a:lstStyle/>
                    <a:p>
                      <a:pPr marL="0" marR="0" algn="l">
                        <a:spcBef>
                          <a:spcPts val="0"/>
                        </a:spcBef>
                        <a:spcAft>
                          <a:spcPts val="0"/>
                        </a:spcAft>
                      </a:pPr>
                      <a:r>
                        <a:rPr lang="en-US" sz="1000">
                          <a:effectLst/>
                        </a:rPr>
                        <a:t>ID</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Test Case Title</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Test Input</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Expected Output</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Description</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Result</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extLst>
                  <a:ext uri="{0D108BD9-81ED-4DB2-BD59-A6C34878D82A}">
                    <a16:rowId xmlns:a16="http://schemas.microsoft.com/office/drawing/2014/main" val="2549770374"/>
                  </a:ext>
                </a:extLst>
              </a:tr>
              <a:tr h="600572">
                <a:tc>
                  <a:txBody>
                    <a:bodyPr/>
                    <a:lstStyle/>
                    <a:p>
                      <a:pPr marL="0" marR="0" algn="l">
                        <a:spcBef>
                          <a:spcPts val="0"/>
                        </a:spcBef>
                        <a:spcAft>
                          <a:spcPts val="0"/>
                        </a:spcAft>
                      </a:pPr>
                      <a:r>
                        <a:rPr lang="en-US" sz="1000">
                          <a:effectLst/>
                        </a:rPr>
                        <a:t>1</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User Registration</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User’s name, email ID, contact and password</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Creates the user and able to login</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User registration page</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Pass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extLst>
                  <a:ext uri="{0D108BD9-81ED-4DB2-BD59-A6C34878D82A}">
                    <a16:rowId xmlns:a16="http://schemas.microsoft.com/office/drawing/2014/main" val="950050087"/>
                  </a:ext>
                </a:extLst>
              </a:tr>
              <a:tr h="600572">
                <a:tc>
                  <a:txBody>
                    <a:bodyPr/>
                    <a:lstStyle/>
                    <a:p>
                      <a:pPr marL="0" marR="0" algn="l">
                        <a:spcBef>
                          <a:spcPts val="0"/>
                        </a:spcBef>
                        <a:spcAft>
                          <a:spcPts val="0"/>
                        </a:spcAft>
                      </a:pPr>
                      <a:r>
                        <a:rPr lang="en-US" sz="1000">
                          <a:effectLst/>
                        </a:rPr>
                        <a:t>2</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Authentication of the users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Username and Password</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Successful login and navigated to homepage</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User can login without any issues with his/her login credentials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Pass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extLst>
                  <a:ext uri="{0D108BD9-81ED-4DB2-BD59-A6C34878D82A}">
                    <a16:rowId xmlns:a16="http://schemas.microsoft.com/office/drawing/2014/main" val="2162502594"/>
                  </a:ext>
                </a:extLst>
              </a:tr>
              <a:tr h="467490">
                <a:tc>
                  <a:txBody>
                    <a:bodyPr/>
                    <a:lstStyle/>
                    <a:p>
                      <a:pPr marL="0" marR="0" algn="l">
                        <a:spcBef>
                          <a:spcPts val="0"/>
                        </a:spcBef>
                        <a:spcAft>
                          <a:spcPts val="0"/>
                        </a:spcAft>
                      </a:pPr>
                      <a:r>
                        <a:rPr lang="en-US" sz="1000">
                          <a:effectLst/>
                        </a:rPr>
                        <a:t>3</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Validating the user credentials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Login Id and Password</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Successful login and Dashboard pops-up</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To validate the user entered valid credentials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Pass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extLst>
                  <a:ext uri="{0D108BD9-81ED-4DB2-BD59-A6C34878D82A}">
                    <a16:rowId xmlns:a16="http://schemas.microsoft.com/office/drawing/2014/main" val="1091265369"/>
                  </a:ext>
                </a:extLst>
              </a:tr>
              <a:tr h="2012711">
                <a:tc>
                  <a:txBody>
                    <a:bodyPr/>
                    <a:lstStyle/>
                    <a:p>
                      <a:pPr marL="0" marR="0" algn="l">
                        <a:spcBef>
                          <a:spcPts val="0"/>
                        </a:spcBef>
                        <a:spcAft>
                          <a:spcPts val="0"/>
                        </a:spcAft>
                      </a:pPr>
                      <a:r>
                        <a:rPr lang="en-US" sz="1000">
                          <a:effectLst/>
                        </a:rPr>
                        <a:t>4</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Dashboard Access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online interface, or page in your website, that displays real-time data as insightful charts and reports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to show a comprehensive overview of data from different sources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Users can manage their ticket raised from the Dashboard</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Pass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extLst>
                  <a:ext uri="{0D108BD9-81ED-4DB2-BD59-A6C34878D82A}">
                    <a16:rowId xmlns:a16="http://schemas.microsoft.com/office/drawing/2014/main" val="153684703"/>
                  </a:ext>
                </a:extLst>
              </a:tr>
              <a:tr h="727965">
                <a:tc>
                  <a:txBody>
                    <a:bodyPr/>
                    <a:lstStyle/>
                    <a:p>
                      <a:pPr marL="0" marR="0" algn="l">
                        <a:spcBef>
                          <a:spcPts val="0"/>
                        </a:spcBef>
                        <a:spcAft>
                          <a:spcPts val="0"/>
                        </a:spcAft>
                      </a:pPr>
                      <a:r>
                        <a:rPr lang="en-US" sz="1000">
                          <a:effectLst/>
                        </a:rPr>
                        <a:t>5</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Create a ticket</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Contact, address, event name and charges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Successful ticket raised</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a:effectLst/>
                        </a:rPr>
                        <a:t>To create, manage, and maintain a list (or lists) of customer problems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tc>
                  <a:txBody>
                    <a:bodyPr/>
                    <a:lstStyle/>
                    <a:p>
                      <a:pPr marL="0" marR="0" algn="l">
                        <a:spcBef>
                          <a:spcPts val="0"/>
                        </a:spcBef>
                        <a:spcAft>
                          <a:spcPts val="0"/>
                        </a:spcAft>
                      </a:pPr>
                      <a:r>
                        <a:rPr lang="en-US" sz="1000" dirty="0">
                          <a:effectLst/>
                        </a:rPr>
                        <a:t>Pass</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422" marR="61422" marT="0" marB="0"/>
                </a:tc>
                <a:extLst>
                  <a:ext uri="{0D108BD9-81ED-4DB2-BD59-A6C34878D82A}">
                    <a16:rowId xmlns:a16="http://schemas.microsoft.com/office/drawing/2014/main" val="1762963415"/>
                  </a:ext>
                </a:extLst>
              </a:tr>
            </a:tbl>
          </a:graphicData>
        </a:graphic>
      </p:graphicFrame>
    </p:spTree>
    <p:extLst>
      <p:ext uri="{BB962C8B-B14F-4D97-AF65-F5344CB8AC3E}">
        <p14:creationId xmlns:p14="http://schemas.microsoft.com/office/powerpoint/2010/main" val="495941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CAE16-53F8-41A6-A959-B072F64D1500}"/>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Test Cases</a:t>
            </a:r>
            <a:endParaRPr lang="en-US" dirty="0"/>
          </a:p>
        </p:txBody>
      </p:sp>
      <p:graphicFrame>
        <p:nvGraphicFramePr>
          <p:cNvPr id="4" name="Content Placeholder 3">
            <a:extLst>
              <a:ext uri="{FF2B5EF4-FFF2-40B4-BE49-F238E27FC236}">
                <a16:creationId xmlns:a16="http://schemas.microsoft.com/office/drawing/2014/main" id="{489FE01D-8325-6059-9B8F-744591660F41}"/>
              </a:ext>
            </a:extLst>
          </p:cNvPr>
          <p:cNvGraphicFramePr>
            <a:graphicFrameLocks noGrp="1"/>
          </p:cNvGraphicFramePr>
          <p:nvPr>
            <p:ph idx="1"/>
          </p:nvPr>
        </p:nvGraphicFramePr>
        <p:xfrm>
          <a:off x="3029902" y="2995454"/>
          <a:ext cx="6132195" cy="2011680"/>
        </p:xfrm>
        <a:graphic>
          <a:graphicData uri="http://schemas.openxmlformats.org/drawingml/2006/table">
            <a:tbl>
              <a:tblPr firstRow="1" firstCol="1" bandRow="1">
                <a:tableStyleId>{5C22544A-7EE6-4342-B048-85BDC9FD1C3A}</a:tableStyleId>
              </a:tblPr>
              <a:tblGrid>
                <a:gridCol w="292735">
                  <a:extLst>
                    <a:ext uri="{9D8B030D-6E8A-4147-A177-3AD203B41FA5}">
                      <a16:colId xmlns:a16="http://schemas.microsoft.com/office/drawing/2014/main" val="669212364"/>
                    </a:ext>
                  </a:extLst>
                </a:gridCol>
                <a:gridCol w="988695">
                  <a:extLst>
                    <a:ext uri="{9D8B030D-6E8A-4147-A177-3AD203B41FA5}">
                      <a16:colId xmlns:a16="http://schemas.microsoft.com/office/drawing/2014/main" val="3930070224"/>
                    </a:ext>
                  </a:extLst>
                </a:gridCol>
                <a:gridCol w="1044575">
                  <a:extLst>
                    <a:ext uri="{9D8B030D-6E8A-4147-A177-3AD203B41FA5}">
                      <a16:colId xmlns:a16="http://schemas.microsoft.com/office/drawing/2014/main" val="3457845880"/>
                    </a:ext>
                  </a:extLst>
                </a:gridCol>
                <a:gridCol w="1209040">
                  <a:extLst>
                    <a:ext uri="{9D8B030D-6E8A-4147-A177-3AD203B41FA5}">
                      <a16:colId xmlns:a16="http://schemas.microsoft.com/office/drawing/2014/main" val="1182014536"/>
                    </a:ext>
                  </a:extLst>
                </a:gridCol>
                <a:gridCol w="1314450">
                  <a:extLst>
                    <a:ext uri="{9D8B030D-6E8A-4147-A177-3AD203B41FA5}">
                      <a16:colId xmlns:a16="http://schemas.microsoft.com/office/drawing/2014/main" val="4290662808"/>
                    </a:ext>
                  </a:extLst>
                </a:gridCol>
                <a:gridCol w="1282700">
                  <a:extLst>
                    <a:ext uri="{9D8B030D-6E8A-4147-A177-3AD203B41FA5}">
                      <a16:colId xmlns:a16="http://schemas.microsoft.com/office/drawing/2014/main" val="2072711811"/>
                    </a:ext>
                  </a:extLst>
                </a:gridCol>
              </a:tblGrid>
              <a:tr h="521970">
                <a:tc>
                  <a:txBody>
                    <a:bodyPr/>
                    <a:lstStyle/>
                    <a:p>
                      <a:pPr marL="0" marR="0" algn="l">
                        <a:spcBef>
                          <a:spcPts val="0"/>
                        </a:spcBef>
                        <a:spcAft>
                          <a:spcPts val="0"/>
                        </a:spcAft>
                      </a:pPr>
                      <a:r>
                        <a:rPr lang="en-US" sz="1100">
                          <a:effectLst/>
                        </a:rPr>
                        <a:t>6</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Managing raised ticket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Admin credentials, only admin have access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Solve the raised ticket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provide a solution for customers problems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Pass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50443761"/>
                  </a:ext>
                </a:extLst>
              </a:tr>
              <a:tr h="521970">
                <a:tc>
                  <a:txBody>
                    <a:bodyPr/>
                    <a:lstStyle/>
                    <a:p>
                      <a:pPr marL="0" marR="0" algn="l">
                        <a:spcBef>
                          <a:spcPts val="0"/>
                        </a:spcBef>
                        <a:spcAft>
                          <a:spcPts val="0"/>
                        </a:spcAft>
                      </a:pPr>
                      <a:r>
                        <a:rPr lang="en-US" sz="1100">
                          <a:effectLst/>
                        </a:rPr>
                        <a:t>7</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Event creation in the system</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describe the type of ticket raised </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create an event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This allows us to understand which type of ticket is raised</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Pass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15928370"/>
                  </a:ext>
                </a:extLst>
              </a:tr>
              <a:tr h="521970">
                <a:tc>
                  <a:txBody>
                    <a:bodyPr/>
                    <a:lstStyle/>
                    <a:p>
                      <a:pPr marL="0" marR="0" algn="l">
                        <a:spcBef>
                          <a:spcPts val="0"/>
                        </a:spcBef>
                        <a:spcAft>
                          <a:spcPts val="0"/>
                        </a:spcAft>
                      </a:pPr>
                      <a:r>
                        <a:rPr lang="en-US" sz="1100">
                          <a:effectLst/>
                        </a:rPr>
                        <a:t>8</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Manage events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Admin credentials, only admin have access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Successful creation of an event</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a:effectLst/>
                        </a:rPr>
                        <a:t>To create an event for frequently raised tickets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100" dirty="0">
                          <a:effectLst/>
                        </a:rPr>
                        <a:t>Fail</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4340226"/>
                  </a:ext>
                </a:extLst>
              </a:tr>
            </a:tbl>
          </a:graphicData>
        </a:graphic>
      </p:graphicFrame>
    </p:spTree>
    <p:extLst>
      <p:ext uri="{BB962C8B-B14F-4D97-AF65-F5344CB8AC3E}">
        <p14:creationId xmlns:p14="http://schemas.microsoft.com/office/powerpoint/2010/main" val="3502124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4BCD1-F19D-657E-FECA-E21921A46AD2}"/>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Summary</a:t>
            </a:r>
          </a:p>
        </p:txBody>
      </p:sp>
      <p:sp>
        <p:nvSpPr>
          <p:cNvPr id="3" name="Content Placeholder 2">
            <a:extLst>
              <a:ext uri="{FF2B5EF4-FFF2-40B4-BE49-F238E27FC236}">
                <a16:creationId xmlns:a16="http://schemas.microsoft.com/office/drawing/2014/main" id="{5D0BE23E-84B9-93A4-F70C-B735551D8528}"/>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attractive and thrilling field of ticketing tool needs a lot of hard work and dynamism. As the name implies, it refers to envisioning, planning, organizing, and ultimately carrying out an event. The event could be of any genre, such as a musical performance, concert, exhibition, product launch, </a:t>
            </a:r>
            <a:r>
              <a:rPr lang="en-US" sz="2000">
                <a:latin typeface="Times New Roman" panose="02020603050405020304" pitchFamily="18" charset="0"/>
                <a:cs typeface="Times New Roman" panose="02020603050405020304" pitchFamily="18" charset="0"/>
              </a:rPr>
              <a:t>etc., </a:t>
            </a:r>
            <a:r>
              <a:rPr lang="en-US" sz="2000" dirty="0">
                <a:latin typeface="Times New Roman" panose="02020603050405020304" pitchFamily="18" charset="0"/>
                <a:cs typeface="Times New Roman" panose="02020603050405020304" pitchFamily="18" charset="0"/>
              </a:rPr>
              <a:t>this industry has a lot of potential for growth. For young individuals who are ambitious, it provides a ton of opportunity. </a:t>
            </a:r>
          </a:p>
          <a:p>
            <a:pPr marL="0" indent="0">
              <a:buNone/>
            </a:pPr>
            <a:r>
              <a:rPr lang="en-US" sz="2000" dirty="0">
                <a:latin typeface="Times New Roman" panose="02020603050405020304" pitchFamily="18" charset="0"/>
                <a:cs typeface="Times New Roman" panose="02020603050405020304" pitchFamily="18" charset="0"/>
              </a:rPr>
              <a:t>The planning and execution of events, both big and small, that support a company's marketing objectives is known as event management. The field of event management is expanding quickly and is predicted to do so even more so during the coming ten years. Professional event organizers typically plan parties, sponsored events, sporting events, competitions, and product launches. concerts, festivals, trade exhibits, open houses for businesses, conferences.</a:t>
            </a:r>
          </a:p>
        </p:txBody>
      </p:sp>
    </p:spTree>
    <p:extLst>
      <p:ext uri="{BB962C8B-B14F-4D97-AF65-F5344CB8AC3E}">
        <p14:creationId xmlns:p14="http://schemas.microsoft.com/office/powerpoint/2010/main" val="1570952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999DE-B29D-4518-87BE-905636C1B795}"/>
              </a:ext>
            </a:extLst>
          </p:cNvPr>
          <p:cNvSpPr>
            <a:spLocks noGrp="1"/>
          </p:cNvSpPr>
          <p:nvPr>
            <p:ph type="title"/>
          </p:nvPr>
        </p:nvSpPr>
        <p:spPr>
          <a:xfrm>
            <a:off x="838200" y="365125"/>
            <a:ext cx="10515600" cy="935641"/>
          </a:xfrm>
        </p:spPr>
        <p:txBody>
          <a:bodyPr/>
          <a:lstStyle/>
          <a:p>
            <a:r>
              <a:rPr lang="en-US" b="1" u="sng" dirty="0">
                <a:latin typeface="Times New Roman" panose="02020603050405020304" pitchFamily="18" charset="0"/>
                <a:cs typeface="Times New Roman" panose="02020603050405020304" pitchFamily="18" charset="0"/>
              </a:rPr>
              <a:t>Ready Prototype System Pages</a:t>
            </a:r>
          </a:p>
        </p:txBody>
      </p:sp>
      <p:sp>
        <p:nvSpPr>
          <p:cNvPr id="6" name="TextBox 5">
            <a:extLst>
              <a:ext uri="{FF2B5EF4-FFF2-40B4-BE49-F238E27FC236}">
                <a16:creationId xmlns:a16="http://schemas.microsoft.com/office/drawing/2014/main" id="{B1869EF5-7C44-47F0-8AEF-015A1A9FB884}"/>
              </a:ext>
            </a:extLst>
          </p:cNvPr>
          <p:cNvSpPr txBox="1"/>
          <p:nvPr/>
        </p:nvSpPr>
        <p:spPr>
          <a:xfrm>
            <a:off x="838200" y="6104586"/>
            <a:ext cx="946489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Fig 1.1: Login Page</a:t>
            </a:r>
          </a:p>
        </p:txBody>
      </p:sp>
      <p:sp>
        <p:nvSpPr>
          <p:cNvPr id="4" name="Content Placeholder 3">
            <a:extLst>
              <a:ext uri="{FF2B5EF4-FFF2-40B4-BE49-F238E27FC236}">
                <a16:creationId xmlns:a16="http://schemas.microsoft.com/office/drawing/2014/main" id="{2FBEA211-D357-D549-91E0-6E714AAEE64A}"/>
              </a:ext>
            </a:extLst>
          </p:cNvPr>
          <p:cNvSpPr>
            <a:spLocks noGrp="1"/>
          </p:cNvSpPr>
          <p:nvPr>
            <p:ph idx="1"/>
          </p:nvPr>
        </p:nvSpPr>
        <p:spPr/>
        <p:txBody>
          <a:bodyPr/>
          <a:lstStyle/>
          <a:p>
            <a:pPr marL="0" indent="0">
              <a:buNone/>
            </a:pPr>
            <a:endParaRPr lang="en-US" dirty="0"/>
          </a:p>
          <a:p>
            <a:pPr marL="0" indent="0">
              <a:buNone/>
            </a:pPr>
            <a:endParaRPr lang="en-US" dirty="0"/>
          </a:p>
        </p:txBody>
      </p:sp>
      <p:pic>
        <p:nvPicPr>
          <p:cNvPr id="3" name="Picture 2">
            <a:extLst>
              <a:ext uri="{FF2B5EF4-FFF2-40B4-BE49-F238E27FC236}">
                <a16:creationId xmlns:a16="http://schemas.microsoft.com/office/drawing/2014/main" id="{AFEC9B66-8D6C-9F44-67FE-C2181F6CFFE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4200" y="1756727"/>
            <a:ext cx="5943600" cy="3344545"/>
          </a:xfrm>
          <a:prstGeom prst="rect">
            <a:avLst/>
          </a:prstGeom>
          <a:noFill/>
          <a:ln>
            <a:noFill/>
          </a:ln>
        </p:spPr>
      </p:pic>
    </p:spTree>
    <p:extLst>
      <p:ext uri="{BB962C8B-B14F-4D97-AF65-F5344CB8AC3E}">
        <p14:creationId xmlns:p14="http://schemas.microsoft.com/office/powerpoint/2010/main" val="4106739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171A00E-D32C-4C0C-998A-B102D6B8EA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673655"/>
            <a:ext cx="10515600" cy="5242403"/>
          </a:xfrm>
        </p:spPr>
      </p:pic>
      <p:sp>
        <p:nvSpPr>
          <p:cNvPr id="6" name="TextBox 5">
            <a:extLst>
              <a:ext uri="{FF2B5EF4-FFF2-40B4-BE49-F238E27FC236}">
                <a16:creationId xmlns:a16="http://schemas.microsoft.com/office/drawing/2014/main" id="{9BC8B216-958D-4604-9CE2-D7F0FB263555}"/>
              </a:ext>
            </a:extLst>
          </p:cNvPr>
          <p:cNvSpPr txBox="1"/>
          <p:nvPr/>
        </p:nvSpPr>
        <p:spPr>
          <a:xfrm>
            <a:off x="746975" y="6130344"/>
            <a:ext cx="963339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Fig 1.2: Signup Page</a:t>
            </a:r>
          </a:p>
        </p:txBody>
      </p:sp>
    </p:spTree>
    <p:extLst>
      <p:ext uri="{BB962C8B-B14F-4D97-AF65-F5344CB8AC3E}">
        <p14:creationId xmlns:p14="http://schemas.microsoft.com/office/powerpoint/2010/main" val="1077294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0E0C7F-9C9C-4B66-88BB-1E09CE8360AE}"/>
              </a:ext>
            </a:extLst>
          </p:cNvPr>
          <p:cNvSpPr txBox="1"/>
          <p:nvPr/>
        </p:nvSpPr>
        <p:spPr>
          <a:xfrm>
            <a:off x="631065" y="6246254"/>
            <a:ext cx="1072273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Fig 1.3: System Dashboard UI</a:t>
            </a:r>
          </a:p>
        </p:txBody>
      </p:sp>
      <p:sp>
        <p:nvSpPr>
          <p:cNvPr id="3" name="Content Placeholder 2">
            <a:extLst>
              <a:ext uri="{FF2B5EF4-FFF2-40B4-BE49-F238E27FC236}">
                <a16:creationId xmlns:a16="http://schemas.microsoft.com/office/drawing/2014/main" id="{A66DBD9F-A10D-5458-5942-B08C97D8E4C6}"/>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7513005A-01E3-0E56-688E-DB46341F2DA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1065" y="557048"/>
            <a:ext cx="10722735" cy="5689205"/>
          </a:xfrm>
          <a:prstGeom prst="rect">
            <a:avLst/>
          </a:prstGeom>
          <a:noFill/>
          <a:ln>
            <a:noFill/>
          </a:ln>
        </p:spPr>
      </p:pic>
    </p:spTree>
    <p:extLst>
      <p:ext uri="{BB962C8B-B14F-4D97-AF65-F5344CB8AC3E}">
        <p14:creationId xmlns:p14="http://schemas.microsoft.com/office/powerpoint/2010/main" val="1561182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0329A5-E559-0476-52D5-BCE233346EF0}"/>
              </a:ext>
            </a:extLst>
          </p:cNvPr>
          <p:cNvSpPr>
            <a:spLocks noGrp="1"/>
          </p:cNvSpPr>
          <p:nvPr>
            <p:ph idx="1"/>
          </p:nvPr>
        </p:nvSpPr>
        <p:spPr>
          <a:xfrm>
            <a:off x="838200" y="353683"/>
            <a:ext cx="10515600" cy="5823280"/>
          </a:xfrm>
        </p:spPr>
        <p:txBody>
          <a:bodyPr/>
          <a:lstStyle/>
          <a:p>
            <a:pPr marR="0" indent="0">
              <a:buNone/>
            </a:pPr>
            <a:r>
              <a:rPr lang="en-US" sz="1800" dirty="0">
                <a:effectLst/>
                <a:latin typeface="Times New Roman" panose="02020603050405020304" pitchFamily="18" charset="0"/>
                <a:ea typeface="Times New Roman" panose="02020603050405020304" pitchFamily="18" charset="0"/>
              </a:rPr>
              <a:t>This is divided into four components:</a:t>
            </a:r>
          </a:p>
          <a:p>
            <a:pPr marR="0" indent="0">
              <a:buNone/>
            </a:pP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Ticket Management</a:t>
            </a:r>
          </a:p>
          <a:p>
            <a:pPr marR="0" indent="0">
              <a:buNone/>
            </a:pP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Client Management	</a:t>
            </a:r>
          </a:p>
          <a:p>
            <a:pPr marR="0" indent="0">
              <a:buNone/>
            </a:pP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Event Management</a:t>
            </a:r>
          </a:p>
          <a:p>
            <a:pPr marR="0" indent="0">
              <a:buNone/>
            </a:pP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User Management</a:t>
            </a:r>
          </a:p>
          <a:p>
            <a:pPr marL="0" indent="0">
              <a:buNone/>
            </a:pPr>
            <a:endParaRPr lang="en-US" dirty="0"/>
          </a:p>
        </p:txBody>
      </p:sp>
    </p:spTree>
    <p:extLst>
      <p:ext uri="{BB962C8B-B14F-4D97-AF65-F5344CB8AC3E}">
        <p14:creationId xmlns:p14="http://schemas.microsoft.com/office/powerpoint/2010/main" val="3810022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1C6B88-6106-E584-3F46-DEEA0205C31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288" y="256349"/>
            <a:ext cx="5337175" cy="3345180"/>
          </a:xfrm>
          <a:prstGeom prst="rect">
            <a:avLst/>
          </a:prstGeom>
          <a:noFill/>
          <a:ln>
            <a:noFill/>
          </a:ln>
        </p:spPr>
      </p:pic>
      <p:pic>
        <p:nvPicPr>
          <p:cNvPr id="5" name="Picture 4">
            <a:extLst>
              <a:ext uri="{FF2B5EF4-FFF2-40B4-BE49-F238E27FC236}">
                <a16:creationId xmlns:a16="http://schemas.microsoft.com/office/drawing/2014/main" id="{1AE5C315-7707-DA91-8997-5D7B41DC061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7155" y="3309165"/>
            <a:ext cx="5359400" cy="3345180"/>
          </a:xfrm>
          <a:prstGeom prst="rect">
            <a:avLst/>
          </a:prstGeom>
          <a:noFill/>
          <a:ln>
            <a:noFill/>
          </a:ln>
        </p:spPr>
      </p:pic>
    </p:spTree>
    <p:extLst>
      <p:ext uri="{BB962C8B-B14F-4D97-AF65-F5344CB8AC3E}">
        <p14:creationId xmlns:p14="http://schemas.microsoft.com/office/powerpoint/2010/main" val="3059566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BFFD31-7BEE-997C-2A9A-01242928C81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6029" y="213216"/>
            <a:ext cx="5330190" cy="3345180"/>
          </a:xfrm>
          <a:prstGeom prst="rect">
            <a:avLst/>
          </a:prstGeom>
          <a:noFill/>
          <a:ln>
            <a:noFill/>
          </a:ln>
        </p:spPr>
      </p:pic>
      <p:pic>
        <p:nvPicPr>
          <p:cNvPr id="3" name="Picture 2">
            <a:extLst>
              <a:ext uri="{FF2B5EF4-FFF2-40B4-BE49-F238E27FC236}">
                <a16:creationId xmlns:a16="http://schemas.microsoft.com/office/drawing/2014/main" id="{73792539-9B03-0596-9DFC-31ECD39D17F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6600" y="2989988"/>
            <a:ext cx="5359400" cy="3345180"/>
          </a:xfrm>
          <a:prstGeom prst="rect">
            <a:avLst/>
          </a:prstGeom>
          <a:noFill/>
          <a:ln>
            <a:noFill/>
          </a:ln>
        </p:spPr>
      </p:pic>
    </p:spTree>
    <p:extLst>
      <p:ext uri="{BB962C8B-B14F-4D97-AF65-F5344CB8AC3E}">
        <p14:creationId xmlns:p14="http://schemas.microsoft.com/office/powerpoint/2010/main" val="989213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D4D89A-B850-AA4A-2522-158D70F28E3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606" y="333052"/>
            <a:ext cx="5419090" cy="3345180"/>
          </a:xfrm>
          <a:prstGeom prst="rect">
            <a:avLst/>
          </a:prstGeom>
          <a:noFill/>
          <a:ln>
            <a:noFill/>
          </a:ln>
        </p:spPr>
      </p:pic>
      <p:pic>
        <p:nvPicPr>
          <p:cNvPr id="3" name="Picture 2">
            <a:extLst>
              <a:ext uri="{FF2B5EF4-FFF2-40B4-BE49-F238E27FC236}">
                <a16:creationId xmlns:a16="http://schemas.microsoft.com/office/drawing/2014/main" id="{A3E9CBCC-234D-8A32-03E0-6C49DB09314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6459" y="2998614"/>
            <a:ext cx="5448935" cy="3345180"/>
          </a:xfrm>
          <a:prstGeom prst="rect">
            <a:avLst/>
          </a:prstGeom>
          <a:noFill/>
          <a:ln>
            <a:noFill/>
          </a:ln>
        </p:spPr>
      </p:pic>
    </p:spTree>
    <p:extLst>
      <p:ext uri="{BB962C8B-B14F-4D97-AF65-F5344CB8AC3E}">
        <p14:creationId xmlns:p14="http://schemas.microsoft.com/office/powerpoint/2010/main" val="24460039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DF74ADB-9A26-75D8-FB23-55561254ADB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9558" y="315798"/>
            <a:ext cx="5352415" cy="3345180"/>
          </a:xfrm>
          <a:prstGeom prst="rect">
            <a:avLst/>
          </a:prstGeom>
          <a:noFill/>
          <a:ln>
            <a:noFill/>
          </a:ln>
        </p:spPr>
      </p:pic>
      <p:pic>
        <p:nvPicPr>
          <p:cNvPr id="3" name="Picture 2">
            <a:extLst>
              <a:ext uri="{FF2B5EF4-FFF2-40B4-BE49-F238E27FC236}">
                <a16:creationId xmlns:a16="http://schemas.microsoft.com/office/drawing/2014/main" id="{7596AB98-1EAD-12B1-95D7-E6352448CB2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6460" y="3050372"/>
            <a:ext cx="5367020" cy="3345180"/>
          </a:xfrm>
          <a:prstGeom prst="rect">
            <a:avLst/>
          </a:prstGeom>
          <a:noFill/>
          <a:ln>
            <a:noFill/>
          </a:ln>
        </p:spPr>
      </p:pic>
    </p:spTree>
    <p:extLst>
      <p:ext uri="{BB962C8B-B14F-4D97-AF65-F5344CB8AC3E}">
        <p14:creationId xmlns:p14="http://schemas.microsoft.com/office/powerpoint/2010/main" val="17324138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1639</TotalTime>
  <Words>2104</Words>
  <Application>Microsoft Office PowerPoint</Application>
  <PresentationFormat>Widescreen</PresentationFormat>
  <Paragraphs>225</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Times</vt:lpstr>
      <vt:lpstr>Times New Roman</vt:lpstr>
      <vt:lpstr>Office Theme</vt:lpstr>
      <vt:lpstr>Ticketing Software</vt:lpstr>
      <vt:lpstr>Table of Contents</vt:lpstr>
      <vt:lpstr>Introduction</vt:lpstr>
      <vt:lpstr>Introduction(Cont…)</vt:lpstr>
      <vt:lpstr>Tools and Technologies</vt:lpstr>
      <vt:lpstr>Tools and Technologies(Cont…)</vt:lpstr>
      <vt:lpstr>Development Process</vt:lpstr>
      <vt:lpstr>Conceptualization</vt:lpstr>
      <vt:lpstr>Functional Requirements</vt:lpstr>
      <vt:lpstr>Functional Requirements</vt:lpstr>
      <vt:lpstr>Functional Requirements(Cont…)</vt:lpstr>
      <vt:lpstr>Functional Requirements(Cont…)</vt:lpstr>
      <vt:lpstr>Design</vt:lpstr>
      <vt:lpstr>Data design and Database description</vt:lpstr>
      <vt:lpstr>PowerPoint Presentation</vt:lpstr>
      <vt:lpstr>PowerPoint Presentation</vt:lpstr>
      <vt:lpstr>Data structures</vt:lpstr>
      <vt:lpstr>PowerPoint Presentation</vt:lpstr>
      <vt:lpstr>Architectural and component-level design</vt:lpstr>
      <vt:lpstr>PowerPoint Presentation</vt:lpstr>
      <vt:lpstr>Test Cases</vt:lpstr>
      <vt:lpstr>Test Cases</vt:lpstr>
      <vt:lpstr>Test Cases</vt:lpstr>
      <vt:lpstr>Summary</vt:lpstr>
      <vt:lpstr>Ready Prototype System Pages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Ticketing Software</dc:title>
  <dc:creator>Bernard Kung'u</dc:creator>
  <cp:lastModifiedBy>Jashwanth Yarrarapu</cp:lastModifiedBy>
  <cp:revision>14</cp:revision>
  <dcterms:created xsi:type="dcterms:W3CDTF">2022-10-09T11:12:35Z</dcterms:created>
  <dcterms:modified xsi:type="dcterms:W3CDTF">2022-12-05T19:08:25Z</dcterms:modified>
</cp:coreProperties>
</file>